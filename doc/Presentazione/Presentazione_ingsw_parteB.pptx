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89" r:id="rId7"/>
    <p:sldId id="261" r:id="rId8"/>
    <p:sldId id="262" r:id="rId9"/>
    <p:sldId id="264" r:id="rId10"/>
    <p:sldId id="279" r:id="rId11"/>
    <p:sldId id="280" r:id="rId12"/>
    <p:sldId id="265" r:id="rId13"/>
    <p:sldId id="266" r:id="rId14"/>
    <p:sldId id="267" r:id="rId15"/>
    <p:sldId id="284" r:id="rId16"/>
    <p:sldId id="285" r:id="rId17"/>
    <p:sldId id="281" r:id="rId18"/>
    <p:sldId id="282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7" r:id="rId28"/>
    <p:sldId id="278" r:id="rId29"/>
    <p:sldId id="287" r:id="rId30"/>
  </p:sldIdLst>
  <p:sldSz cx="12192000" cy="6858000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F0AEC-018D-460A-AFB1-86F6C0EDFE5A}" v="1" dt="2025-11-10T14:33:44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3" autoAdjust="0"/>
    <p:restoredTop sz="94660"/>
  </p:normalViewPr>
  <p:slideViewPr>
    <p:cSldViewPr snapToGrid="0">
      <p:cViewPr varScale="1">
        <p:scale>
          <a:sx n="92" d="100"/>
          <a:sy n="92" d="100"/>
        </p:scale>
        <p:origin x="75" y="31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Dolzanelli" userId="dff1ab91afad8a33" providerId="LiveId" clId="{E4438C63-D726-4254-B5C1-0731AF93BC5F}"/>
    <pc:docChg chg="custSel addSld delSld modSld sldOrd">
      <pc:chgData name="Lorenzo Dolzanelli" userId="dff1ab91afad8a33" providerId="LiveId" clId="{E4438C63-D726-4254-B5C1-0731AF93BC5F}" dt="2025-11-10T14:40:48.876" v="468" actId="20577"/>
      <pc:docMkLst>
        <pc:docMk/>
      </pc:docMkLst>
      <pc:sldChg chg="modSp mod">
        <pc:chgData name="Lorenzo Dolzanelli" userId="dff1ab91afad8a33" providerId="LiveId" clId="{E4438C63-D726-4254-B5C1-0731AF93BC5F}" dt="2025-11-10T14:33:39.322" v="32" actId="20577"/>
        <pc:sldMkLst>
          <pc:docMk/>
          <pc:sldMk cId="0" sldId="261"/>
        </pc:sldMkLst>
        <pc:spChg chg="mod">
          <ac:chgData name="Lorenzo Dolzanelli" userId="dff1ab91afad8a33" providerId="LiveId" clId="{E4438C63-D726-4254-B5C1-0731AF93BC5F}" dt="2025-11-10T14:33:39.322" v="32" actId="20577"/>
          <ac:spMkLst>
            <pc:docMk/>
            <pc:sldMk cId="0" sldId="261"/>
            <ac:spMk id="69616992" creationId="{00000000-0000-0000-0000-000000000000}"/>
          </ac:spMkLst>
        </pc:spChg>
      </pc:sldChg>
      <pc:sldChg chg="new del ord">
        <pc:chgData name="Lorenzo Dolzanelli" userId="dff1ab91afad8a33" providerId="LiveId" clId="{E4438C63-D726-4254-B5C1-0731AF93BC5F}" dt="2025-11-10T14:33:45.350" v="34" actId="47"/>
        <pc:sldMkLst>
          <pc:docMk/>
          <pc:sldMk cId="3501456837" sldId="288"/>
        </pc:sldMkLst>
      </pc:sldChg>
      <pc:sldChg chg="addSp delSp modSp add mod">
        <pc:chgData name="Lorenzo Dolzanelli" userId="dff1ab91afad8a33" providerId="LiveId" clId="{E4438C63-D726-4254-B5C1-0731AF93BC5F}" dt="2025-11-10T14:40:48.876" v="468" actId="20577"/>
        <pc:sldMkLst>
          <pc:docMk/>
          <pc:sldMk cId="2601686502" sldId="289"/>
        </pc:sldMkLst>
        <pc:spChg chg="mod">
          <ac:chgData name="Lorenzo Dolzanelli" userId="dff1ab91afad8a33" providerId="LiveId" clId="{E4438C63-D726-4254-B5C1-0731AF93BC5F}" dt="2025-11-10T14:40:48.876" v="468" actId="20577"/>
          <ac:spMkLst>
            <pc:docMk/>
            <pc:sldMk cId="2601686502" sldId="289"/>
            <ac:spMk id="69616992" creationId="{FA1687BD-3474-1735-378F-450A88F65A0F}"/>
          </ac:spMkLst>
        </pc:spChg>
        <pc:spChg chg="del mod">
          <ac:chgData name="Lorenzo Dolzanelli" userId="dff1ab91afad8a33" providerId="LiveId" clId="{E4438C63-D726-4254-B5C1-0731AF93BC5F}" dt="2025-11-10T14:33:51.436" v="40" actId="478"/>
          <ac:spMkLst>
            <pc:docMk/>
            <pc:sldMk cId="2601686502" sldId="289"/>
            <ac:spMk id="1746594648" creationId="{2A257B06-3DC0-E403-4D70-61C485B3E103}"/>
          </ac:spMkLst>
        </pc:spChg>
        <pc:spChg chg="mod">
          <ac:chgData name="Lorenzo Dolzanelli" userId="dff1ab91afad8a33" providerId="LiveId" clId="{E4438C63-D726-4254-B5C1-0731AF93BC5F}" dt="2025-11-10T14:34:35.712" v="74" actId="20577"/>
          <ac:spMkLst>
            <pc:docMk/>
            <pc:sldMk cId="2601686502" sldId="289"/>
            <ac:spMk id="2040059782" creationId="{57FC49AB-1AA5-366A-5FD4-21B5B02E3769}"/>
          </ac:spMkLst>
        </pc:spChg>
        <pc:picChg chg="add mod">
          <ac:chgData name="Lorenzo Dolzanelli" userId="dff1ab91afad8a33" providerId="LiveId" clId="{E4438C63-D726-4254-B5C1-0731AF93BC5F}" dt="2025-11-10T14:34:44.701" v="78" actId="1076"/>
          <ac:picMkLst>
            <pc:docMk/>
            <pc:sldMk cId="2601686502" sldId="289"/>
            <ac:picMk id="3" creationId="{4A476B5F-3FA8-11CF-EC18-054D8ADD0597}"/>
          </ac:picMkLst>
        </pc:picChg>
        <pc:picChg chg="del">
          <ac:chgData name="Lorenzo Dolzanelli" userId="dff1ab91afad8a33" providerId="LiveId" clId="{E4438C63-D726-4254-B5C1-0731AF93BC5F}" dt="2025-11-10T14:34:02.001" v="41" actId="478"/>
          <ac:picMkLst>
            <pc:docMk/>
            <pc:sldMk cId="2601686502" sldId="289"/>
            <ac:picMk id="5" creationId="{BF621B33-B3D6-379F-4E74-8731785020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932334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1415694" name="Segnaposto data 2"/>
          <p:cNvSpPr>
            <a:spLocks noGrp="1"/>
          </p:cNvSpPr>
          <p:nvPr>
            <p:ph type="dt" idx="1"/>
          </p:nvPr>
        </p:nvSpPr>
        <p:spPr bwMode="auto"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pPr>
              <a:defRPr/>
            </a:pPr>
            <a:fld id="{3632E96E-41F7-40C5-8419-297958CC00FA}" type="datetimeFigureOut">
              <a:rPr lang="it-IT"/>
              <a:t>10/11/2025</a:t>
            </a:fld>
            <a:endParaRPr lang="it-IT"/>
          </a:p>
        </p:txBody>
      </p:sp>
      <p:sp>
        <p:nvSpPr>
          <p:cNvPr id="437000211" name="Segnaposto immagine diapositiva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412366212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1620273658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847972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pPr>
              <a:defRPr/>
            </a:pPr>
            <a:fld id="{2E6999B8-B6B4-4561-A3CD-BBCDAB9FC9D9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709154" name="Segnaposto immagine diapositiva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82600" y="1279525"/>
            <a:ext cx="6140450" cy="3454400"/>
          </a:xfrm>
        </p:spPr>
      </p:sp>
      <p:sp>
        <p:nvSpPr>
          <p:cNvPr id="1592559170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>
              <a:latin typeface="Arial"/>
              <a:cs typeface="Arial"/>
            </a:endParaRPr>
          </a:p>
        </p:txBody>
      </p:sp>
      <p:sp>
        <p:nvSpPr>
          <p:cNvPr id="1847530888" name="Segnaposto numero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it-IT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96306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64258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182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700E5-196F-F5BA-0D79-8AB7D4EE95B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12726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5644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270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2D84ED-ECE8-373D-C4B2-0C151F616E2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455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06651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83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D98B3A-AE8A-2B48-B60D-2D19AEA0996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31497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00213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858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BD46CB-D826-5F31-9C25-5AA9FC7A4C14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93F9-9819-2EC0-F00D-E24FE308643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56594" name="Slide Image Placeholder 1">
            <a:extLst>
              <a:ext uri="{FF2B5EF4-FFF2-40B4-BE49-F238E27FC236}">
                <a16:creationId xmlns:a16="http://schemas.microsoft.com/office/drawing/2014/main" id="{236D9D3F-4418-2B5F-A393-3D272F513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99664211" name="Notes Placeholder 2">
            <a:extLst>
              <a:ext uri="{FF2B5EF4-FFF2-40B4-BE49-F238E27FC236}">
                <a16:creationId xmlns:a16="http://schemas.microsoft.com/office/drawing/2014/main" id="{4EAB2B7A-A819-651A-708A-ED46360995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438736" name="Slide Number Placeholder 3">
            <a:extLst>
              <a:ext uri="{FF2B5EF4-FFF2-40B4-BE49-F238E27FC236}">
                <a16:creationId xmlns:a16="http://schemas.microsoft.com/office/drawing/2014/main" id="{F055B5B0-C21C-6CCA-333E-ED4FD6018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2480C3-7ECA-BEA5-1D8D-6A196042D57D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2883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5659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99664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438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2480C3-7ECA-BEA5-1D8D-6A196042D57D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78334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38746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001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CBDFB4-5DE2-4395-7D2B-3F76437FF0D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74902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3393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317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F3189F-EC7B-F6F2-E7B6-A1DC7CF396B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9041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403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425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D550A-33FF-F345-33F7-C626DCFF7893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20058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54652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709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54E2A-FD91-BE13-31E5-F9D7895BA612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15674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98776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10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53592B-FCDD-6163-0739-6BAACF3A1F45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92363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30696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858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D94749-6FDA-4E9C-36AB-734731960A87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07002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87769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22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F52480-0813-D9C9-E145-46E7CB451224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1369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93756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1450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B3A339-E4F5-9849-5159-B780C46036EF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7775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5221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098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54AAF7-24FB-4C7D-56D0-9F6828B47495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64284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0725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569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C01B90-6EF3-4614-96E6-28D52D163363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29045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7648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62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B0ED42-154C-37AC-EA60-9CE5185831C2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32842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76207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39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CE3B5A-C7B8-C31E-D05F-021B77FFEF0E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02503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16711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157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3A4F64-1DDB-898D-3141-351BAF57DA12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4844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67864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777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DDF272-15C9-97B8-0696-B071723A3A34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16606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74845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640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195650-B0F5-4319-E0B1-4A630F16C93D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6F051-EC4C-8BF7-71EC-A7D717C1518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025030" name="Slide Image Placeholder 1">
            <a:extLst>
              <a:ext uri="{FF2B5EF4-FFF2-40B4-BE49-F238E27FC236}">
                <a16:creationId xmlns:a16="http://schemas.microsoft.com/office/drawing/2014/main" id="{99CA4CF7-D545-8EF7-177E-2F0222F5B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16711154" name="Notes Placeholder 2">
            <a:extLst>
              <a:ext uri="{FF2B5EF4-FFF2-40B4-BE49-F238E27FC236}">
                <a16:creationId xmlns:a16="http://schemas.microsoft.com/office/drawing/2014/main" id="{6EC946C9-3B8E-28DC-0C91-BB0E2BD528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157295" name="Slide Number Placeholder 3">
            <a:extLst>
              <a:ext uri="{FF2B5EF4-FFF2-40B4-BE49-F238E27FC236}">
                <a16:creationId xmlns:a16="http://schemas.microsoft.com/office/drawing/2014/main" id="{14A68CDB-173A-D5E0-57E8-0F9038085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3A4F64-1DDB-898D-3141-351BAF57DA12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368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EC611-F647-8A10-3790-FDC597B7F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17CDBE8-89D1-0B33-EE1C-3E2C66E69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D42303-FC39-0DE7-BC2C-666AACCE6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D1F217-1207-F29B-4E27-3E7E536D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F5E8C4-8999-2D82-878F-757C7514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716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F5DDC6-06AA-3B97-D925-E3EA3EE6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46DDBC-1972-AEF4-295A-122EB9B3B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2B0191-A772-5EE0-E2B7-42B0E2E4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F59717-C4D9-4202-F038-570C8FF4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0CFCEC-A352-F0BD-6916-8892473D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870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662F8D-1950-5A18-36FE-D1811C8A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F2AFF67-0C7B-E15E-6863-11AC1D528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7FCA8D-D223-3434-BDFF-95B3BABD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C93A81-3CD2-74A1-3E1C-20563534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FEE8A2-736A-570F-4E4E-E5FA3936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886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9DCE65-9B75-FF80-9E6A-785DD9FF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161A5F-2E25-F188-7B82-8EEECB7F8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999C3D5-BB66-C25F-356A-ABE6BEE3C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A58F3A-0490-60C9-D687-499DBBA5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BAAA6A-3369-AF3E-87F3-1F6ABB34F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BB2254A-2C43-4354-6011-9FAA6B45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284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D8E4D0-1F9E-907F-8B3B-048D05939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74B17E-FA01-E2F2-FCC4-57361B49E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DF93750-0DF0-1567-FE9E-1226FBC33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4C8C399-63D4-CCF3-4A9B-0A2EBAB1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571731C-2BBE-096A-97A1-ED19F0DF7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523C077-9660-DECC-A09F-F007148B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83F6190-C23E-9A33-3E78-32EC8B3C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D33FFE5-25D8-22C1-86E5-7E9D191A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1153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96320F-28C1-14FA-0222-29B07E11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DD63EA2-5641-E005-C007-8971E663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5030C9B-C0B0-721F-4E86-3D820827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FDAD31F-BB81-9989-5238-92131352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886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B826A46-170C-D69C-C276-B9A16C6D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61B4495-22AF-E7ED-9C19-629B21C0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C3F4BA-DD00-88BF-0945-E4F4FCFA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091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D97471-687A-5B89-86FD-0785F22D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18161C-3756-FBB9-5B19-00738B46A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4002277-24EA-375C-D60D-7493D0213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3783C82-07BB-43E7-84AA-CF6CA0FE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795168-0568-FAAA-6D65-662AEB210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829B62D-C971-E9B6-E72E-E2BB0DC8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14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C43BD7-2093-69A4-5B7B-0740C48E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C884921-2E70-BB47-5563-D782F5EF8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9A9F77F-8989-71D9-D0C7-10DBD728D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365336-2A81-B526-28BF-08DE6CFD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4284296-802F-A2D3-A03A-3BDC26A4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05C5C8-B415-C6FF-8EF6-DBFF8DDB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620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295804-2020-2C32-0749-B4BC8C28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D8D5978-D404-5194-9A75-3896A3E1B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294432-F6A3-75DB-97D1-A6AA6F47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6A4BAD-A8A4-C8BE-46F0-43C2ECBCF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19785A-48F8-4B3D-809A-6B575672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858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818ADBA-1092-62D9-2D4A-45F438E40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8B69738-F9EC-EF0B-90A4-FC133F2B0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5D6061-DA22-23DE-F76F-0BF6D743E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233555-A149-47AE-52EF-F62469CCB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C10690-56B1-5EFF-C49B-7E1D1BFB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6172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173846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2096900696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</a:p>
        </p:txBody>
      </p:sp>
      <p:sp>
        <p:nvSpPr>
          <p:cNvPr id="2098076908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1451742043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78279587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72874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473187805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1042055707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636313684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113051459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162318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679328813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558988994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769315715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337338204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6973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1216792708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1771311523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2062770771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207704897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1966146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575459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403074179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034376452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1925355340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2014180446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1100837243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319951023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42465953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35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2069688320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1421529815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8063273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618487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1143868976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578904580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583672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1486731977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565939208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611833288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861767685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913216569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02206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2144436781" name="Segnaposto immagine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it-IT"/>
              <a:t>Fare clic sull'icona per aggiungere un'immagine</a:t>
            </a:r>
          </a:p>
        </p:txBody>
      </p:sp>
      <p:sp>
        <p:nvSpPr>
          <p:cNvPr id="994291581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1829581445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639750667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17308643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2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84018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1867211462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429115142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1219216710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85903573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3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356999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</a:t>
            </a:r>
          </a:p>
        </p:txBody>
      </p:sp>
      <p:sp>
        <p:nvSpPr>
          <p:cNvPr id="1437053011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</a:p>
        </p:txBody>
      </p:sp>
      <p:sp>
        <p:nvSpPr>
          <p:cNvPr id="729347285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10/11/2025</a:t>
            </a:fld>
            <a:endParaRPr lang="it-IT"/>
          </a:p>
        </p:txBody>
      </p:sp>
      <p:sp>
        <p:nvSpPr>
          <p:cNvPr id="1905350434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76792246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FD68F0B-416C-F1B3-AB07-FE570600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4938B2-0EB4-AEEA-37AD-1FD10B082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AC173B-D876-66BE-DC43-D86D75D22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it-IT" smtClean="0"/>
              <a:t>10/11/2025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3E8FFF-3E66-9B39-2A91-C01C79D6B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8874AF-2C8E-4994-CE16-FCD5FDE8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6033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1395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" b="1">
                <a:latin typeface="NimbusSanL"/>
                <a:ea typeface="NimbusSanL"/>
                <a:cs typeface="NimbusSanL"/>
              </a:rPr>
              <a:t>Centro Visite</a:t>
            </a:r>
            <a:endParaRPr lang="it-IT"/>
          </a:p>
        </p:txBody>
      </p:sp>
      <p:sp>
        <p:nvSpPr>
          <p:cNvPr id="185302160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">
                <a:latin typeface="Cantarell"/>
                <a:ea typeface="Cantarell"/>
                <a:cs typeface="Cantarell"/>
              </a:rPr>
              <a:t>Progetto di Ingegneria del Software – Parte B</a:t>
            </a:r>
            <a:endParaRPr>
              <a:latin typeface="Cantarell"/>
              <a:cs typeface="Cantarell"/>
            </a:endParaRPr>
          </a:p>
        </p:txBody>
      </p:sp>
      <p:sp>
        <p:nvSpPr>
          <p:cNvPr id="1485969275" name="CasellaDiTesto 1485969274"/>
          <p:cNvSpPr txBox="1"/>
          <p:nvPr/>
        </p:nvSpPr>
        <p:spPr bwMode="auto">
          <a:xfrm>
            <a:off x="3768161" y="4166278"/>
            <a:ext cx="5003986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" dirty="0">
                <a:latin typeface="DejaVu Sans Condensed"/>
                <a:ea typeface="DejaVu Sans Condensed"/>
                <a:cs typeface="DejaVu Sans Condensed"/>
              </a:rPr>
              <a:t>Lorenzo Dolzanelli</a:t>
            </a:r>
            <a:r>
              <a:rPr dirty="0">
                <a:latin typeface="DejaVu Sans Condensed"/>
                <a:cs typeface="DejaVu Sans Condensed"/>
              </a:rPr>
              <a:t>	</a:t>
            </a:r>
            <a:r>
              <a:rPr lang="en" dirty="0">
                <a:latin typeface="DejaVu Sans Condensed"/>
                <a:ea typeface="DejaVu Sans Condensed"/>
                <a:cs typeface="DejaVu Sans Condensed"/>
              </a:rPr>
              <a:t>MAT </a:t>
            </a:r>
            <a:r>
              <a:rPr lang="en" sz="1800" b="0" i="0" u="none" strike="noStrike" cap="none" spc="0" dirty="0">
                <a:solidFill>
                  <a:schemeClr val="tx1"/>
                </a:solidFill>
                <a:latin typeface="DejaVu Sans Condensed"/>
                <a:ea typeface="DejaVu Sans Condensed"/>
                <a:cs typeface="DejaVu Sans Condensed"/>
              </a:rPr>
              <a:t>740643</a:t>
            </a:r>
            <a:endParaRPr dirty="0">
              <a:latin typeface="DejaVu Sans Condensed"/>
              <a:cs typeface="DejaVu Sans Condensed"/>
            </a:endParaRPr>
          </a:p>
          <a:p>
            <a:pPr>
              <a:lnSpc>
                <a:spcPct val="200000"/>
              </a:lnSpc>
              <a:defRPr/>
            </a:pPr>
            <a:r>
              <a:rPr lang="en" dirty="0">
                <a:latin typeface="DejaVu Sans Condensed"/>
                <a:ea typeface="DejaVu Sans Condensed"/>
                <a:cs typeface="DejaVu Sans Condensed"/>
              </a:rPr>
              <a:t>Khater Abdelaziz	</a:t>
            </a:r>
            <a:r>
              <a:rPr lang="en" sz="1800" b="0" i="0" u="none" strike="noStrike" cap="none" spc="0" dirty="0">
                <a:solidFill>
                  <a:schemeClr val="tx1"/>
                </a:solidFill>
                <a:latin typeface="DejaVu Sans Condensed"/>
                <a:ea typeface="DejaVu Sans Condensed"/>
                <a:cs typeface="DejaVu Sans Condensed"/>
              </a:rPr>
              <a:t>MAT 741614</a:t>
            </a:r>
            <a:endParaRPr dirty="0">
              <a:latin typeface="DejaVu Sans Condensed"/>
              <a:cs typeface="DejaVu Sans Condensed"/>
            </a:endParaRPr>
          </a:p>
          <a:p>
            <a:pPr>
              <a:lnSpc>
                <a:spcPct val="200000"/>
              </a:lnSpc>
              <a:defRPr/>
            </a:pPr>
            <a:r>
              <a:rPr lang="en" dirty="0">
                <a:latin typeface="DejaVu Sans Condensed"/>
                <a:ea typeface="DejaVu Sans Condensed"/>
                <a:cs typeface="DejaVu Sans Condensed"/>
              </a:rPr>
              <a:t>Daniele Miguel Franchi	</a:t>
            </a:r>
            <a:r>
              <a:rPr lang="en" sz="1800" b="0" i="0" u="none" strike="noStrike" cap="none" spc="0" dirty="0">
                <a:solidFill>
                  <a:schemeClr val="tx1"/>
                </a:solidFill>
                <a:latin typeface="DejaVu Sans Condensed"/>
                <a:ea typeface="DejaVu Sans Condensed"/>
                <a:cs typeface="DejaVu Sans Condensed"/>
              </a:rPr>
              <a:t>MAT 743230</a:t>
            </a:r>
            <a:endParaRPr dirty="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542285" name="Titolo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ln w="12699">
            <a:noFill/>
            <a:prstDash val="solid"/>
          </a:ln>
        </p:spPr>
        <p:txBody>
          <a:bodyPr/>
          <a:lstStyle/>
          <a:p>
            <a:pPr>
              <a:defRPr/>
            </a:pPr>
            <a:r>
              <a:rPr lang="en" b="1" dirty="0">
                <a:ln w="6349">
                  <a:noFill/>
                  <a:prstDash val="solid"/>
                </a:ln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Indice dei contenuti</a:t>
            </a:r>
            <a:endParaRPr dirty="0"/>
          </a:p>
        </p:txBody>
      </p:sp>
      <p:sp>
        <p:nvSpPr>
          <p:cNvPr id="324859497" name="Segnaposto contenuto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394023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Separazione modello-vista				</a:t>
            </a:r>
            <a:r>
              <a:rPr lang="en-GB" sz="1800" dirty="0">
                <a:latin typeface="DejaVu Sans Condensed"/>
                <a:ea typeface="DejaVu Sans Condensed"/>
                <a:cs typeface="DejaVu Sans Condensed"/>
              </a:rPr>
              <a:t>3-5</a:t>
            </a:r>
            <a:endParaRPr sz="1800" dirty="0">
              <a:latin typeface="DejaVu Sans Condensed"/>
              <a:cs typeface="DejaVu Sans Condensed"/>
            </a:endParaRPr>
          </a:p>
          <a:p>
            <a:pPr marL="394023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Esempi di pattern GRASP		</a:t>
            </a:r>
            <a:endParaRPr sz="1800" dirty="0">
              <a:latin typeface="DejaVu Sans Condensed"/>
              <a:cs typeface="DejaVu Sans Condensed"/>
            </a:endParaRPr>
          </a:p>
          <a:p>
            <a:pPr marL="794073" lvl="1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GRASP 1 – Information Expert			6-7</a:t>
            </a:r>
            <a:endParaRPr sz="1800" dirty="0">
              <a:latin typeface="DejaVu Sans Condensed"/>
              <a:cs typeface="DejaVu Sans Condensed"/>
            </a:endParaRPr>
          </a:p>
          <a:p>
            <a:pPr marL="794073" lvl="1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GRASP 2 – Controller				8-10</a:t>
            </a:r>
            <a:endParaRPr sz="1800" dirty="0">
              <a:latin typeface="DejaVu Sans Condensed"/>
              <a:cs typeface="DejaVu Sans Condensed"/>
            </a:endParaRPr>
          </a:p>
          <a:p>
            <a:pPr marL="394023" lvl="0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Esempi di pattern SOLID			</a:t>
            </a:r>
            <a:endParaRPr sz="1800" dirty="0">
              <a:latin typeface="DejaVu Sans Condensed"/>
              <a:cs typeface="DejaVu Sans Condensed"/>
            </a:endParaRPr>
          </a:p>
          <a:p>
            <a:pPr marL="794073" lvl="1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SOLID 1 – Dependency Inversion 		11</a:t>
            </a:r>
            <a:endParaRPr sz="1800" dirty="0">
              <a:latin typeface="DejaVu Sans Condensed"/>
              <a:cs typeface="DejaVu Sans Condensed"/>
            </a:endParaRPr>
          </a:p>
          <a:p>
            <a:pPr marL="794073" lvl="1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SOLID 2 – Interface Segregation			12</a:t>
            </a:r>
          </a:p>
          <a:p>
            <a:pPr marL="336873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cs typeface="DejaVu Sans Condensed"/>
              </a:rPr>
              <a:t>Esempi di pattern GoF</a:t>
            </a:r>
          </a:p>
          <a:p>
            <a:pPr marL="794073" lvl="1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cs typeface="DejaVu Sans Condensed"/>
              </a:rPr>
              <a:t>GoF 1 – Strategy				13-15</a:t>
            </a:r>
          </a:p>
          <a:p>
            <a:pPr marL="794073" lvl="1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cs typeface="DejaVu Sans Condensed"/>
              </a:rPr>
              <a:t>GoF 2 – Adapter					16-17</a:t>
            </a:r>
            <a:endParaRPr sz="1800" dirty="0">
              <a:latin typeface="DejaVu Sans Condensed"/>
              <a:cs typeface="DejaVu Sans Condensed"/>
            </a:endParaRPr>
          </a:p>
          <a:p>
            <a:pPr marL="394023" lvl="0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Esempi di testing					18-22</a:t>
            </a:r>
            <a:endParaRPr sz="1800" dirty="0">
              <a:latin typeface="DejaVu Sans Condensed"/>
              <a:cs typeface="DejaVu Sans Condensed"/>
            </a:endParaRPr>
          </a:p>
          <a:p>
            <a:pPr marL="394023" lvl="0" indent="-394023">
              <a:buFont typeface="Arial"/>
              <a:buAutoNum type="alphaUcPeriod"/>
              <a:defRPr/>
            </a:pPr>
            <a:r>
              <a:rPr lang="en" sz="1800" dirty="0">
                <a:latin typeface="DejaVu Sans Condensed"/>
                <a:ea typeface="DejaVu Sans Condensed"/>
                <a:cs typeface="DejaVu Sans Condensed"/>
              </a:rPr>
              <a:t>Esempi di refactoring				24-28</a:t>
            </a:r>
            <a:endParaRPr sz="1800" dirty="0">
              <a:latin typeface="Cantarell"/>
              <a:cs typeface="Cantarel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19996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Diagramma dei package</a:t>
            </a:r>
            <a:endParaRPr>
              <a:solidFill>
                <a:srgbClr val="0070C0"/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A8BCC22-BCF4-CB06-0C83-2DAADC00A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8006"/>
            <a:ext cx="12192000" cy="19019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39627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Separazione modello-vista</a:t>
            </a:r>
            <a:endParaRPr/>
          </a:p>
        </p:txBody>
      </p:sp>
      <p:sp>
        <p:nvSpPr>
          <p:cNvPr id="1325949513" name="Segnaposto contenuto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" dirty="0"/>
              <a:t>La separazione avviene seguendo il pattern MVC:</a:t>
            </a:r>
          </a:p>
          <a:p>
            <a:pPr>
              <a:defRPr/>
            </a:pPr>
            <a:r>
              <a:rPr lang="en" dirty="0"/>
              <a:t>la </a:t>
            </a:r>
            <a:r>
              <a:rPr lang="en" b="1" dirty="0"/>
              <a:t>View</a:t>
            </a:r>
            <a:r>
              <a:rPr lang="en" dirty="0"/>
              <a:t> é contenuta nei template HTML in Thymeleaf.</a:t>
            </a:r>
          </a:p>
          <a:p>
            <a:pPr>
              <a:defRPr/>
            </a:pPr>
            <a:r>
              <a:rPr lang="en" dirty="0"/>
              <a:t>I </a:t>
            </a:r>
            <a:r>
              <a:rPr lang="en" b="1" dirty="0"/>
              <a:t>Controller</a:t>
            </a:r>
            <a:r>
              <a:rPr lang="en" dirty="0"/>
              <a:t> </a:t>
            </a:r>
            <a:r>
              <a:rPr lang="it-IT" dirty="0"/>
              <a:t>sono i REST Controller, che espongono le API per l’invio e il recupero dei dati dal </a:t>
            </a:r>
            <a:r>
              <a:rPr lang="it-IT" dirty="0" err="1"/>
              <a:t>backend</a:t>
            </a:r>
            <a:r>
              <a:rPr lang="it-IT" dirty="0"/>
              <a:t>.</a:t>
            </a:r>
            <a:endParaRPr lang="en" dirty="0"/>
          </a:p>
          <a:p>
            <a:pPr lvl="0">
              <a:defRPr/>
            </a:pPr>
            <a:r>
              <a:rPr lang="en" dirty="0"/>
              <a:t>Il </a:t>
            </a:r>
            <a:r>
              <a:rPr lang="en" b="1" dirty="0"/>
              <a:t>Model </a:t>
            </a:r>
            <a:r>
              <a:rPr lang="en" dirty="0"/>
              <a:t>è costituito dai Service che svolgono la logica di business, dal layer di persistence che si interfaccia con il DB tramite le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00336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Esempio con SSD</a:t>
            </a:r>
            <a:endParaRPr b="1">
              <a:solidFill>
                <a:srgbClr val="0070C0"/>
              </a:solidFill>
              <a:latin typeface="Noto Sans"/>
              <a:cs typeface="Noto Sans"/>
            </a:endParaRPr>
          </a:p>
        </p:txBody>
      </p:sp>
      <p:sp>
        <p:nvSpPr>
          <p:cNvPr id="1583511586" name="Segnaposto contenuto 2"/>
          <p:cNvSpPr>
            <a:spLocks noGrp="1"/>
          </p:cNvSpPr>
          <p:nvPr>
            <p:ph idx="1"/>
          </p:nvPr>
        </p:nvSpPr>
        <p:spPr bwMode="auto">
          <a:xfrm>
            <a:off x="6622472" y="698139"/>
            <a:ext cx="4808413" cy="65953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87500" lnSpcReduction="1000"/>
          </a:bodyPr>
          <a:lstStyle/>
          <a:p>
            <a:pPr marL="0" indent="0" algn="ctr">
              <a:buFont typeface="Arial"/>
              <a:buNone/>
              <a:defRPr/>
            </a:pPr>
            <a:r>
              <a:rPr lang="en" b="1">
                <a:solidFill>
                  <a:srgbClr val="0070C0"/>
                </a:solidFill>
                <a:latin typeface="DejaVu Sans Condensed"/>
                <a:ea typeface="DejaVu Sans Condensed"/>
                <a:cs typeface="DejaVu Sans Condensed"/>
              </a:rPr>
              <a:t>Disponibilitá dei volontari</a:t>
            </a:r>
            <a:endParaRPr b="1">
              <a:solidFill>
                <a:srgbClr val="0070C0"/>
              </a:solidFill>
              <a:latin typeface="DejaVu Sans Condensed"/>
              <a:cs typeface="DejaVu Sans Condensed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72A5632-1FE2-4412-3489-448B3DECE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6668" y="1634304"/>
            <a:ext cx="11558664" cy="45255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2958852-0552-32FC-B003-D5D2FBD498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949901" name="Titolo 1">
            <a:extLst>
              <a:ext uri="{FF2B5EF4-FFF2-40B4-BE49-F238E27FC236}">
                <a16:creationId xmlns:a16="http://schemas.microsoft.com/office/drawing/2014/main" id="{2BC9D21F-3598-1604-7351-DE53E11E31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198" y="193674"/>
            <a:ext cx="10515600" cy="1325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GRASP 1 – information expert</a:t>
            </a:r>
            <a:endParaRPr b="1">
              <a:solidFill>
                <a:srgbClr val="0070C0"/>
              </a:solidFill>
              <a:latin typeface="Noto Sans"/>
              <a:cs typeface="Noto Sans"/>
            </a:endParaRPr>
          </a:p>
        </p:txBody>
      </p:sp>
      <p:sp>
        <p:nvSpPr>
          <p:cNvPr id="2040059782" name="CasellaDiTesto 2040059781">
            <a:extLst>
              <a:ext uri="{FF2B5EF4-FFF2-40B4-BE49-F238E27FC236}">
                <a16:creationId xmlns:a16="http://schemas.microsoft.com/office/drawing/2014/main" id="{57FC49AB-1AA5-366A-5FD4-21B5B02E3769}"/>
              </a:ext>
            </a:extLst>
          </p:cNvPr>
          <p:cNvSpPr txBox="1"/>
          <p:nvPr/>
        </p:nvSpPr>
        <p:spPr bwMode="auto">
          <a:xfrm>
            <a:off x="351446" y="1731960"/>
            <a:ext cx="5945445" cy="4605437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sz="1400" b="0" i="0" u="none" strike="noStrike" cap="none" spc="0" dirty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// Visit</a:t>
            </a: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</p:txBody>
      </p:sp>
      <p:sp>
        <p:nvSpPr>
          <p:cNvPr id="69616992" name="CasellaDiTesto 69616991">
            <a:extLst>
              <a:ext uri="{FF2B5EF4-FFF2-40B4-BE49-F238E27FC236}">
                <a16:creationId xmlns:a16="http://schemas.microsoft.com/office/drawing/2014/main" id="{FA1687BD-3474-1735-378F-450A88F65A0F}"/>
              </a:ext>
            </a:extLst>
          </p:cNvPr>
          <p:cNvSpPr txBox="1"/>
          <p:nvPr/>
        </p:nvSpPr>
        <p:spPr bwMode="auto">
          <a:xfrm>
            <a:off x="6716540" y="2664375"/>
            <a:ext cx="4850275" cy="20645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dirty="0"/>
              <a:t>Esempio </a:t>
            </a:r>
            <a:r>
              <a:rPr lang="it-IT" dirty="0"/>
              <a:t>di Expert</a:t>
            </a:r>
            <a:r>
              <a:rPr lang="en" dirty="0"/>
              <a:t>: nella classe Visit, sono definiti dei metodi helper che aiutano a recuperare informazioni utili in altre parti del sistema. Visit in questo caso è l’expert, dato che ha tutte le informazioni necessarie per effettuare </a:t>
            </a:r>
            <a:r>
              <a:rPr lang="it-IT"/>
              <a:t>i calcoli </a:t>
            </a:r>
            <a:r>
              <a:rPr lang="it-IT" dirty="0"/>
              <a:t>e fornire alle classi di livello superiore i dati fondamentali per proseguire.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476B5F-3FA8-11CF-EC18-054D8ADD0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75" y="2192481"/>
            <a:ext cx="5496927" cy="379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8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949901" name="Titolo 1"/>
          <p:cNvSpPr>
            <a:spLocks noGrp="1"/>
          </p:cNvSpPr>
          <p:nvPr>
            <p:ph type="title"/>
          </p:nvPr>
        </p:nvSpPr>
        <p:spPr bwMode="auto">
          <a:xfrm>
            <a:off x="838198" y="193674"/>
            <a:ext cx="10515600" cy="1325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GRASP 1 – information expert</a:t>
            </a:r>
            <a:endParaRPr b="1">
              <a:solidFill>
                <a:srgbClr val="0070C0"/>
              </a:solidFill>
              <a:latin typeface="Noto Sans"/>
              <a:cs typeface="Noto Sans"/>
            </a:endParaRPr>
          </a:p>
        </p:txBody>
      </p:sp>
      <p:sp>
        <p:nvSpPr>
          <p:cNvPr id="2040059782" name="CasellaDiTesto 2040059781"/>
          <p:cNvSpPr txBox="1"/>
          <p:nvPr/>
        </p:nvSpPr>
        <p:spPr bwMode="auto">
          <a:xfrm>
            <a:off x="351446" y="1731960"/>
            <a:ext cx="11608529" cy="3026788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sz="1400" b="0" i="0" u="none" strike="noStrike" cap="none" spc="0" dirty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// VisitPlanService</a:t>
            </a: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</p:txBody>
      </p:sp>
      <p:sp>
        <p:nvSpPr>
          <p:cNvPr id="69616992" name="CasellaDiTesto 69616991"/>
          <p:cNvSpPr txBox="1"/>
          <p:nvPr/>
        </p:nvSpPr>
        <p:spPr bwMode="auto">
          <a:xfrm>
            <a:off x="351446" y="4751092"/>
            <a:ext cx="11855593" cy="150105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dirty="0"/>
              <a:t>Esempio violazione: nella classe </a:t>
            </a:r>
            <a:r>
              <a:rPr lang="e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VisitPlanService</a:t>
            </a:r>
            <a:r>
              <a:rPr lang="en" dirty="0"/>
              <a:t> il metodo </a:t>
            </a:r>
            <a:r>
              <a:rPr lang="e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initMonthAvailabilities()</a:t>
            </a:r>
            <a:r>
              <a:rPr lang="en" dirty="0"/>
              <a:t> chiamava diverse repository per selezionare più dati, che andava poi a gestire e associare per recuperare informazioni su dati del database.</a:t>
            </a:r>
          </a:p>
          <a:p>
            <a:pPr>
              <a:defRPr/>
            </a:pPr>
            <a:r>
              <a:rPr lang="en" dirty="0"/>
              <a:t>Si é deciso di spostare questo compito alla classe </a:t>
            </a:r>
            <a:r>
              <a:rPr lang="e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JpaVolunteerRepositoryAdapter</a:t>
            </a:r>
            <a:r>
              <a:rPr lang="en" dirty="0"/>
              <a:t> visto che fornisce giá funzioni di base per la lettura/scrittura dati da DB.</a:t>
            </a:r>
            <a:endParaRPr dirty="0"/>
          </a:p>
        </p:txBody>
      </p:sp>
      <p:sp>
        <p:nvSpPr>
          <p:cNvPr id="1746594648" name="CasellaDiTesto 1746594647"/>
          <p:cNvSpPr txBox="1"/>
          <p:nvPr/>
        </p:nvSpPr>
        <p:spPr bwMode="auto">
          <a:xfrm>
            <a:off x="9869850" y="948644"/>
            <a:ext cx="199487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>
                <a:ln w="6349">
                  <a:solidFill>
                    <a:srgbClr val="000000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Cantarell Extra Bold"/>
                <a:ea typeface="Cantarell Extra Bold"/>
                <a:cs typeface="Cantarell Extra Bold"/>
              </a:rPr>
              <a:t>PRIMA</a:t>
            </a:r>
            <a:endParaRPr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519E60D-773E-EDBE-1CE7-35C6ECEEB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2065696"/>
            <a:ext cx="8153400" cy="25865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747012" name="Titolo 1"/>
          <p:cNvSpPr>
            <a:spLocks noGrp="1"/>
          </p:cNvSpPr>
          <p:nvPr>
            <p:ph type="title"/>
          </p:nvPr>
        </p:nvSpPr>
        <p:spPr bwMode="auto">
          <a:xfrm>
            <a:off x="838197" y="3173"/>
            <a:ext cx="10515600" cy="1325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GRASP 1 – information expert</a:t>
            </a:r>
            <a:endParaRPr b="1">
              <a:solidFill>
                <a:srgbClr val="0070C0"/>
              </a:solidFill>
              <a:latin typeface="Noto Sans"/>
              <a:cs typeface="Noto Sans"/>
            </a:endParaRPr>
          </a:p>
        </p:txBody>
      </p:sp>
      <p:sp>
        <p:nvSpPr>
          <p:cNvPr id="847448281" name="CasellaDiTesto 847448280"/>
          <p:cNvSpPr txBox="1"/>
          <p:nvPr/>
        </p:nvSpPr>
        <p:spPr bwMode="auto">
          <a:xfrm>
            <a:off x="351446" y="2982409"/>
            <a:ext cx="11782816" cy="1950845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sz="1100" b="0" i="0" u="none" strike="noStrike" cap="none" spc="0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adapters.jpa.adapter.JpaVolunteerAvailableDateRepositoryAdapter</a:t>
            </a:r>
          </a:p>
          <a:p>
            <a:pPr>
              <a:defRPr/>
            </a:pPr>
            <a:endParaRPr lang="en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lang="en" sz="1100" b="0" i="0" u="none" strike="noStrike" cap="none" spc="0" dirty="0">
              <a:solidFill>
                <a:schemeClr val="tx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lang="en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lang="en" sz="1100" b="0" i="0" u="none" strike="noStrike" cap="none" spc="0" dirty="0">
              <a:solidFill>
                <a:schemeClr val="tx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lang="en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lang="en" sz="1100" b="0" i="0" u="none" strike="noStrike" cap="none" spc="0" dirty="0">
              <a:solidFill>
                <a:schemeClr val="tx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lang="en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lang="en" sz="1100" b="0" i="0" u="none" strike="noStrike" cap="none" spc="0" dirty="0">
              <a:solidFill>
                <a:schemeClr val="tx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lang="en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defRPr/>
            </a:pPr>
            <a:endParaRPr sz="1100" b="0" i="0" u="none" strike="noStrike" cap="none" spc="0" dirty="0">
              <a:solidFill>
                <a:schemeClr val="tx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63624069" name="CasellaDiTesto 1863624068"/>
          <p:cNvSpPr txBox="1"/>
          <p:nvPr/>
        </p:nvSpPr>
        <p:spPr bwMode="auto">
          <a:xfrm>
            <a:off x="351446" y="4956249"/>
            <a:ext cx="11808375" cy="1391331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sz="1100" b="0" i="0" u="sng" strike="noStrike" cap="none" spc="0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VisitPlanService</a:t>
            </a:r>
            <a:r>
              <a:rPr lang="en" sz="1100" u="sng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</a:t>
            </a:r>
            <a:r>
              <a:rPr lang="en" sz="1100" b="0" i="0" u="sng" strike="noStrike" cap="none" spc="0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createVisitPlan()</a:t>
            </a:r>
          </a:p>
          <a:p>
            <a:pPr>
              <a:defRPr/>
            </a:pPr>
            <a:r>
              <a:rPr lang="en" sz="1400" b="0" i="0" u="sng" strike="noStrike" cap="none" spc="0" dirty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...</a:t>
            </a:r>
            <a:endParaRPr sz="1400" b="0" i="0" u="sng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-GB" sz="1400" b="0" i="0" u="sng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sz="1400" b="0" i="0" u="sng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" sz="1400" u="sng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r>
              <a:rPr lang="en" sz="1400" u="sng" dirty="0">
                <a:latin typeface="Liberation Mono"/>
                <a:ea typeface="Liberation Mono"/>
                <a:cs typeface="Liberation Mono"/>
              </a:rPr>
              <a:t>...</a:t>
            </a:r>
            <a:endParaRPr u="sng" dirty="0"/>
          </a:p>
        </p:txBody>
      </p:sp>
      <p:sp>
        <p:nvSpPr>
          <p:cNvPr id="1078290012" name="CasellaDiTesto 1078290011"/>
          <p:cNvSpPr txBox="1"/>
          <p:nvPr/>
        </p:nvSpPr>
        <p:spPr bwMode="auto">
          <a:xfrm>
            <a:off x="351446" y="967568"/>
            <a:ext cx="11811975" cy="1899182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application.port.out.VolunteerAvailableDateRepositoryPort</a:t>
            </a: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cs typeface="Liberation Mono"/>
            </a:endParaRPr>
          </a:p>
        </p:txBody>
      </p:sp>
      <p:sp>
        <p:nvSpPr>
          <p:cNvPr id="1145214106" name="CasellaDiTesto 1145214105"/>
          <p:cNvSpPr txBox="1"/>
          <p:nvPr/>
        </p:nvSpPr>
        <p:spPr bwMode="auto">
          <a:xfrm>
            <a:off x="9974624" y="309823"/>
            <a:ext cx="199811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>
                <a:ln w="6349">
                  <a:solidFill>
                    <a:srgbClr val="000000"/>
                  </a:solidFill>
                  <a:prstDash val="solid"/>
                </a:ln>
                <a:solidFill>
                  <a:srgbClr val="92D050"/>
                </a:solidFill>
                <a:latin typeface="Cantarell Extra Bold"/>
                <a:ea typeface="Cantarell Extra Bold"/>
                <a:cs typeface="Cantarell Extra Bold"/>
              </a:rPr>
              <a:t>DOPO</a:t>
            </a:r>
            <a:endParaRPr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1573515-2A99-B5DF-831A-9BD4E9922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66" y="5399342"/>
            <a:ext cx="4337698" cy="19404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33BA6C6-9453-0448-0BE8-F5C35E1A8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65" y="5807349"/>
            <a:ext cx="7019939" cy="21569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4477929-862C-57D9-8BD3-C006B9B35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65" y="3242411"/>
            <a:ext cx="5026547" cy="162593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8C79619-D78B-A415-461C-C05508116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65" y="1271546"/>
            <a:ext cx="3952439" cy="1545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6638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GRASP 2 - Controller</a:t>
            </a:r>
            <a:endParaRPr dirty="0"/>
          </a:p>
        </p:txBody>
      </p:sp>
      <p:sp>
        <p:nvSpPr>
          <p:cNvPr id="783455782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it-IT" noProof="0" dirty="0"/>
              <a:t>Il </a:t>
            </a:r>
            <a:r>
              <a:rPr lang="it-IT" noProof="0" dirty="0" err="1"/>
              <a:t>layer</a:t>
            </a:r>
            <a:r>
              <a:rPr lang="it-IT" noProof="0" dirty="0"/>
              <a:t> di REST Controller espone API da lui definite, che vengono chiamate dalla </a:t>
            </a:r>
            <a:r>
              <a:rPr lang="it-IT" noProof="0" dirty="0" err="1"/>
              <a:t>View</a:t>
            </a:r>
            <a:r>
              <a:rPr lang="it-IT" noProof="0" dirty="0"/>
              <a:t>. Una volta che riceve la chiamata, il Controller delega lo svolgimento della operazione al </a:t>
            </a:r>
            <a:r>
              <a:rPr lang="it-IT" noProof="0" dirty="0" err="1"/>
              <a:t>layer</a:t>
            </a:r>
            <a:r>
              <a:rPr lang="it-IT" noProof="0" dirty="0"/>
              <a:t> dei Service, che si occupano di applicare la logica di business. </a:t>
            </a:r>
            <a:r>
              <a:rPr lang="it-IT" dirty="0"/>
              <a:t>Viene poi fornita la risposta ricevuta all’utente che ha effettuato la richiesta.</a:t>
            </a:r>
          </a:p>
          <a:p>
            <a:pPr marL="0" indent="0">
              <a:buFont typeface="Arial"/>
              <a:buNone/>
              <a:defRPr/>
            </a:pPr>
            <a:endParaRPr lang="it-IT" noProof="0" dirty="0"/>
          </a:p>
          <a:p>
            <a:pPr marL="0" indent="0">
              <a:buFont typeface="Arial"/>
              <a:buNone/>
              <a:defRPr/>
            </a:pPr>
            <a:endParaRPr lang="it-IT" dirty="0"/>
          </a:p>
          <a:p>
            <a:pPr marL="0" indent="0">
              <a:buFont typeface="Arial"/>
              <a:buNone/>
              <a:defRPr/>
            </a:pPr>
            <a:endParaRPr lang="it-IT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B6A9EC-0653-BF20-87C5-5B4516EC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GRASP 2 - Controller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61C465-83C7-EE10-10BA-E96D69FF6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Esempio</a:t>
            </a:r>
            <a:r>
              <a:rPr lang="en-GB" dirty="0"/>
              <a:t> </a:t>
            </a:r>
            <a:r>
              <a:rPr lang="en-GB" dirty="0" err="1"/>
              <a:t>chiamata</a:t>
            </a:r>
            <a:r>
              <a:rPr lang="en-GB" dirty="0"/>
              <a:t> GET da </a:t>
            </a:r>
            <a:r>
              <a:rPr lang="en-GB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BookingController</a:t>
            </a:r>
            <a:endParaRPr lang="en-GB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br>
              <a:rPr lang="en-GB" dirty="0"/>
            </a:b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67A9A17E-3C15-73F6-C3BA-7CFFC541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3739"/>
            <a:ext cx="1053612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49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ACE7-B743-0131-74F9-CED3AD0B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CFB85B-6420-798F-B1F8-91A8584C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GRASP 2 - Controller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162E61-7133-90D8-8027-16D47E1B4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Esempio</a:t>
            </a:r>
            <a:r>
              <a:rPr lang="en-GB" dirty="0"/>
              <a:t> </a:t>
            </a:r>
            <a:r>
              <a:rPr lang="en-GB" dirty="0" err="1"/>
              <a:t>chiamata</a:t>
            </a:r>
            <a:r>
              <a:rPr lang="en-GB" dirty="0"/>
              <a:t> POST da </a:t>
            </a:r>
            <a:r>
              <a:rPr lang="en-GB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BookingController</a:t>
            </a:r>
            <a:endParaRPr lang="en-GB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br>
              <a:rPr lang="en-GB" dirty="0"/>
            </a:b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F425A12-B226-9F04-DF5E-6760C478F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82" y="2709240"/>
            <a:ext cx="10288436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14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546751" name="Titolo 1"/>
          <p:cNvSpPr>
            <a:spLocks noGrp="1"/>
          </p:cNvSpPr>
          <p:nvPr>
            <p:ph type="title"/>
          </p:nvPr>
        </p:nvSpPr>
        <p:spPr bwMode="auto">
          <a:xfrm>
            <a:off x="838199" y="191943"/>
            <a:ext cx="10515600" cy="1325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SOLID 1 – dependency inversion</a:t>
            </a:r>
            <a:endParaRPr/>
          </a:p>
        </p:txBody>
      </p:sp>
      <p:pic>
        <p:nvPicPr>
          <p:cNvPr id="782234069" name="Elemento grafico 7822340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186295" y="1260272"/>
            <a:ext cx="4071545" cy="5438402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CF7E812-58CE-C362-DE26-0E237B3B90CB}"/>
              </a:ext>
            </a:extLst>
          </p:cNvPr>
          <p:cNvSpPr txBox="1"/>
          <p:nvPr/>
        </p:nvSpPr>
        <p:spPr>
          <a:xfrm>
            <a:off x="6654800" y="1517505"/>
            <a:ext cx="46989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L’interazione tra le classi dei diversi strati (dominio, persistenza) avviene mediante delle interfacce che costituiscono un’astrazione delle implementazioni.</a:t>
            </a:r>
          </a:p>
          <a:p>
            <a:r>
              <a:rPr lang="it-IT" dirty="0"/>
              <a:t>In questo modo si evita di avere una dipendenza diretta tra una classe e l’altra.</a:t>
            </a:r>
          </a:p>
          <a:p>
            <a:r>
              <a:rPr lang="it-IT" dirty="0"/>
              <a:t>Un esempio sono le interfacce del package </a:t>
            </a:r>
            <a:r>
              <a:rPr lang="it-IT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RepositoryPort</a:t>
            </a:r>
            <a:r>
              <a:rPr lang="it-IT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r>
              <a:rPr lang="it-IT" dirty="0"/>
              <a:t>Le </a:t>
            </a:r>
            <a:r>
              <a:rPr lang="it-IT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JpaRepositoryAdapter</a:t>
            </a:r>
            <a:r>
              <a:rPr lang="it-IT" dirty="0"/>
              <a:t>, chiamate tramite le </a:t>
            </a:r>
            <a:r>
              <a:rPr lang="it-IT" sz="16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RepositoryPort</a:t>
            </a:r>
            <a:r>
              <a:rPr lang="it-IT" dirty="0"/>
              <a:t>, producono oggetti Model utilizzabili dai Services.</a:t>
            </a:r>
          </a:p>
          <a:p>
            <a:r>
              <a:rPr lang="it-IT" dirty="0"/>
              <a:t>Gli oggetti Model vengono prodotti a partire dagli oggetti </a:t>
            </a:r>
            <a:r>
              <a:rPr lang="it-IT" dirty="0" err="1"/>
              <a:t>Entity</a:t>
            </a:r>
            <a:r>
              <a:rPr lang="it-IT" dirty="0"/>
              <a:t> recuperati tramite le Repository.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057745" name="Titolo 1"/>
          <p:cNvSpPr>
            <a:spLocks noGrp="1"/>
          </p:cNvSpPr>
          <p:nvPr>
            <p:ph type="title"/>
          </p:nvPr>
        </p:nvSpPr>
        <p:spPr bwMode="auto">
          <a:xfrm>
            <a:off x="838198" y="88899"/>
            <a:ext cx="10515600" cy="13255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SOLID 2 – Interface segregation</a:t>
            </a:r>
            <a:endParaRPr b="1">
              <a:solidFill>
                <a:srgbClr val="0070C0"/>
              </a:solidFill>
              <a:latin typeface="Noto Sans"/>
              <a:cs typeface="Noto Sans"/>
            </a:endParaRPr>
          </a:p>
        </p:txBody>
      </p:sp>
      <p:sp>
        <p:nvSpPr>
          <p:cNvPr id="317562871" name="Segnaposto contenuto 2"/>
          <p:cNvSpPr>
            <a:spLocks noGrp="1"/>
          </p:cNvSpPr>
          <p:nvPr>
            <p:ph idx="1"/>
          </p:nvPr>
        </p:nvSpPr>
        <p:spPr bwMode="auto">
          <a:xfrm>
            <a:off x="838198" y="1172214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" sz="2400" dirty="0"/>
              <a:t>Riorganizzazione delle interfacce UseCase, implementate nei Service.</a:t>
            </a:r>
          </a:p>
          <a:p>
            <a:pPr marL="0" indent="0">
              <a:buFont typeface="Arial"/>
              <a:buNone/>
              <a:defRPr/>
            </a:pPr>
            <a:r>
              <a:rPr lang="en" sz="2400" dirty="0"/>
              <a:t>Le interfacce contenevano troppe funzioni, di conseguenza sono state scorporate in interfacce piú piccole che svolgono compiti precisi</a:t>
            </a:r>
            <a:endParaRPr dirty="0"/>
          </a:p>
        </p:txBody>
      </p:sp>
      <p:pic>
        <p:nvPicPr>
          <p:cNvPr id="337026905" name="Immagine 33702690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2538225"/>
            <a:ext cx="2983274" cy="4157848"/>
          </a:xfrm>
          <a:prstGeom prst="rect">
            <a:avLst/>
          </a:prstGeom>
        </p:spPr>
      </p:pic>
      <p:pic>
        <p:nvPicPr>
          <p:cNvPr id="1064753335" name="Immagine 106475333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638924" y="2373658"/>
            <a:ext cx="2802299" cy="4322415"/>
          </a:xfrm>
          <a:prstGeom prst="rect">
            <a:avLst/>
          </a:prstGeom>
        </p:spPr>
      </p:pic>
      <p:sp>
        <p:nvSpPr>
          <p:cNvPr id="1327605616" name="Freccia a destra 1327605615"/>
          <p:cNvSpPr/>
          <p:nvPr/>
        </p:nvSpPr>
        <p:spPr bwMode="auto">
          <a:xfrm>
            <a:off x="4431074" y="3758024"/>
            <a:ext cx="1819274" cy="12572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2D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75152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GoF 1 – Strategy</a:t>
            </a:r>
            <a:endParaRPr lang="it-IT" dirty="0"/>
          </a:p>
        </p:txBody>
      </p:sp>
      <p:sp>
        <p:nvSpPr>
          <p:cNvPr id="1034785210" name="Segnaposto contenuto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4912264" cy="452437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it-IT" sz="2400" dirty="0"/>
              <a:t>Per ogni caso d’uso è stata definita una classe di eccezione dedicata che estende una base comune.</a:t>
            </a:r>
          </a:p>
          <a:p>
            <a:pPr marL="0" indent="0">
              <a:buNone/>
              <a:defRPr/>
            </a:pPr>
            <a:br>
              <a:rPr lang="it-IT" sz="2400" dirty="0"/>
            </a:br>
            <a:r>
              <a:rPr lang="it-IT" sz="2400" dirty="0"/>
              <a:t>La classe </a:t>
            </a:r>
            <a:r>
              <a:rPr lang="it-IT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BaseUseCaseException</a:t>
            </a:r>
            <a:r>
              <a:rPr lang="it-IT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it-IT" sz="2400" dirty="0"/>
              <a:t>fornisce un’interfaccia uniforme per identificare il tipo di caso d’uso e il relativo codice di errore.</a:t>
            </a:r>
          </a:p>
          <a:p>
            <a:pPr marL="0" indent="0">
              <a:buNone/>
              <a:defRPr/>
            </a:pPr>
            <a:endParaRPr lang="it-IT" sz="2400" dirty="0"/>
          </a:p>
          <a:p>
            <a:pPr marL="0" indent="0">
              <a:buNone/>
              <a:defRPr/>
            </a:pPr>
            <a:r>
              <a:rPr lang="it-IT" sz="2400" dirty="0"/>
              <a:t>Ogni caso d’uso (es. booking, </a:t>
            </a:r>
            <a:r>
              <a:rPr lang="it-IT" sz="2400" dirty="0" err="1"/>
              <a:t>visit</a:t>
            </a:r>
            <a:r>
              <a:rPr lang="it-IT" sz="2400" dirty="0"/>
              <a:t>, user, ecc.) definisce la propria eccezione specializzata.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0AF5EEF-562C-0541-539D-7D56F7A46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101850"/>
            <a:ext cx="5476875" cy="106680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34EABFE9-C4A2-27F3-A14D-14259F443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995449"/>
            <a:ext cx="5476875" cy="14179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A6502C-420E-A491-1174-69EA9BBC4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012825"/>
            <a:ext cx="4152900" cy="26574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000" dirty="0"/>
              <a:t>L’architettura utilizza il pattern Strategy per delegare la gestione di ogni eccezione alla strategia corrispondente.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GlobalExceptionHandler</a:t>
            </a:r>
            <a:r>
              <a:rPr lang="it-IT" sz="2000" dirty="0"/>
              <a:t> individua la strategia appropriata e ne invoca il metodo </a:t>
            </a:r>
            <a:r>
              <a:rPr lang="it-IT" sz="1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handleException</a:t>
            </a:r>
            <a:r>
              <a:rPr lang="it-IT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().</a:t>
            </a:r>
            <a:endParaRPr lang="it-IT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622C8F-0C43-9356-8300-A51DCCD9E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504" y="4106368"/>
            <a:ext cx="9134391" cy="177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9BF2B24-0B25-3F28-FB61-A430468AE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979419"/>
            <a:ext cx="6007100" cy="244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14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D045B2-527F-D4E0-3BC2-34C356DC7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1725612"/>
            <a:ext cx="4648200" cy="3406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In base al codice d’errore, la strategia seleziona lo status HTTP più appropriato (es. 400, 404) e costruisce un messaggio chiaro e non tecnico per l’utente. I dettagli interni vengono registrati nei log di sistema; al client viene restituita solo l’informazione utile all’azione successiva.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FCD7598-BE01-71AC-8AE4-BE6FA7849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62805"/>
            <a:ext cx="5725238" cy="513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49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22F803-BA15-8AD1-688E-01556831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GoF 2 – Adapter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326178-2684-9E2D-E183-8E47E322C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Il pattern Adapter è stato applicato alle Repository JPA fornite da Spring Data per introdurre un’interfaccia stabile (rappresentata da </a:t>
            </a:r>
            <a:r>
              <a:rPr lang="it-IT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RepositoryPort</a:t>
            </a:r>
            <a:r>
              <a:rPr lang="it-IT" dirty="0"/>
              <a:t>) che permette ai Service di interagire con il livello di persistenza in modo naturale e indipendente dai dettagli di implementazione.</a:t>
            </a:r>
          </a:p>
          <a:p>
            <a:pPr marL="0" indent="0">
              <a:buNone/>
            </a:pPr>
            <a:r>
              <a:rPr lang="it-IT" dirty="0"/>
              <a:t>L’Adapter ha il compito di trasformare i dati tra il modello di dominio e le </a:t>
            </a:r>
            <a:r>
              <a:rPr lang="it-IT" dirty="0" err="1"/>
              <a:t>Entity</a:t>
            </a:r>
            <a:r>
              <a:rPr lang="it-IT" dirty="0"/>
              <a:t> del database. In lettura, converte le </a:t>
            </a:r>
            <a:r>
              <a:rPr lang="it-IT" dirty="0" err="1"/>
              <a:t>Entity</a:t>
            </a:r>
            <a:r>
              <a:rPr lang="it-IT" dirty="0"/>
              <a:t> in oggetti di dominio, rendendo i dati utilizzabili dai Service. In scrittura, effettua la conversione inversa.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37302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C226-010D-E665-C445-E0541421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CF207D-83F7-A124-F78F-528CBB5E4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294" y="5242952"/>
            <a:ext cx="1668283" cy="519541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Adaptee</a:t>
            </a:r>
            <a:endParaRPr lang="en-GB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2A045DF-D4D4-0852-A9EC-5ACC91AF7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637" y="4884446"/>
            <a:ext cx="5764620" cy="142474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DC2B46C-63CB-579B-C388-8DA4AAE1A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436" y="2745617"/>
            <a:ext cx="3782338" cy="1637713"/>
          </a:xfrm>
          <a:prstGeom prst="rect">
            <a:avLst/>
          </a:prstGeom>
        </p:spPr>
      </p:pic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47E65938-AA23-82E3-83AF-45B3C939587B}"/>
              </a:ext>
            </a:extLst>
          </p:cNvPr>
          <p:cNvSpPr txBox="1">
            <a:spLocks/>
          </p:cNvSpPr>
          <p:nvPr/>
        </p:nvSpPr>
        <p:spPr bwMode="auto">
          <a:xfrm>
            <a:off x="1523599" y="3169229"/>
            <a:ext cx="1585145" cy="519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dirty="0"/>
              <a:t>Adapter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222C07A4-4C4B-1C8E-187D-184D4F204641}"/>
              </a:ext>
            </a:extLst>
          </p:cNvPr>
          <p:cNvCxnSpPr>
            <a:cxnSpLocks/>
          </p:cNvCxnSpPr>
          <p:nvPr/>
        </p:nvCxnSpPr>
        <p:spPr>
          <a:xfrm>
            <a:off x="5670596" y="4369409"/>
            <a:ext cx="184195" cy="51503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5BF79AA0-5CC8-D320-CC96-53BC434B11C4}"/>
              </a:ext>
            </a:extLst>
          </p:cNvPr>
          <p:cNvSpPr txBox="1">
            <a:spLocks/>
          </p:cNvSpPr>
          <p:nvPr/>
        </p:nvSpPr>
        <p:spPr bwMode="auto">
          <a:xfrm>
            <a:off x="542764" y="1071746"/>
            <a:ext cx="1585145" cy="519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dirty="0"/>
              <a:t>Target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6F1DCB05-E89B-8DAA-26F3-959AF6190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561" y="1065884"/>
            <a:ext cx="6187210" cy="1243723"/>
          </a:xfrm>
          <a:prstGeom prst="rect">
            <a:avLst/>
          </a:prstGeom>
        </p:spPr>
      </p:pic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671CBAA7-42EE-2AFD-934D-4E1E23D5FEE2}"/>
              </a:ext>
            </a:extLst>
          </p:cNvPr>
          <p:cNvCxnSpPr>
            <a:cxnSpLocks/>
            <a:stCxn id="17" idx="2"/>
            <a:endCxn id="7" idx="0"/>
          </p:cNvCxnSpPr>
          <p:nvPr/>
        </p:nvCxnSpPr>
        <p:spPr>
          <a:xfrm>
            <a:off x="4929166" y="2309607"/>
            <a:ext cx="113439" cy="43601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50" name="Picture 2" descr="PlantUML diagram">
            <a:extLst>
              <a:ext uri="{FF2B5EF4-FFF2-40B4-BE49-F238E27FC236}">
                <a16:creationId xmlns:a16="http://schemas.microsoft.com/office/drawing/2014/main" id="{DF86E73B-ED4F-3267-C421-684BE3389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539" y="816409"/>
            <a:ext cx="2657475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31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030970" name="Titolo 1"/>
          <p:cNvSpPr>
            <a:spLocks noGrp="1"/>
          </p:cNvSpPr>
          <p:nvPr>
            <p:ph type="title"/>
          </p:nvPr>
        </p:nvSpPr>
        <p:spPr bwMode="auto">
          <a:xfrm>
            <a:off x="838198" y="8889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Testing White Box – </a:t>
            </a:r>
            <a:r>
              <a:rPr lang="en" sz="3600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createVisitPlan()</a:t>
            </a:r>
            <a:endParaRPr b="1" dirty="0">
              <a:solidFill>
                <a:srgbClr val="0070C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74860491" name="Segnaposto contenuto 2"/>
          <p:cNvSpPr>
            <a:spLocks noGrp="1"/>
          </p:cNvSpPr>
          <p:nvPr>
            <p:ph idx="1"/>
          </p:nvPr>
        </p:nvSpPr>
        <p:spPr bwMode="auto">
          <a:xfrm>
            <a:off x="838198" y="1253329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" dirty="0"/>
              <a:t>Data l’esigenza di eseguire piú refactoring sul metodo </a:t>
            </a:r>
            <a:r>
              <a:rPr lang="e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createVisitPlan() </a:t>
            </a:r>
            <a:r>
              <a:rPr lang="en" dirty="0"/>
              <a:t>in </a:t>
            </a:r>
            <a:r>
              <a:rPr lang="e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VisitPlanService</a:t>
            </a:r>
            <a:r>
              <a:rPr lang="en" dirty="0"/>
              <a:t> (vedi a slide 23), prima di operare é stato necessario definire diversi casi di test in modo da verificare che l’algoritmo si comportasse sempre alla stessa maniera.</a:t>
            </a:r>
          </a:p>
          <a:p>
            <a:pPr marL="0" indent="0">
              <a:buFont typeface="Arial"/>
              <a:buNone/>
              <a:defRPr/>
            </a:pPr>
            <a:r>
              <a:rPr lang="en" dirty="0"/>
              <a:t>Di seguito il grafo che descrive il funzionamento generale dell’algoritmo con i casi di test individuati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347402" name="Titolo 1"/>
          <p:cNvSpPr>
            <a:spLocks noGrp="1"/>
          </p:cNvSpPr>
          <p:nvPr>
            <p:ph type="title"/>
          </p:nvPr>
        </p:nvSpPr>
        <p:spPr bwMode="auto">
          <a:xfrm>
            <a:off x="838197" y="12697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Testing White Box – </a:t>
            </a:r>
            <a:r>
              <a:rPr lang="en" sz="3600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createVisitPlan()</a:t>
            </a:r>
            <a:endParaRPr b="1" dirty="0">
              <a:solidFill>
                <a:srgbClr val="0070C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05329485" name="Elemento grafico 50532948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01695" y="997479"/>
            <a:ext cx="4076826" cy="5554842"/>
          </a:xfrm>
          <a:prstGeom prst="rect">
            <a:avLst/>
          </a:prstGeom>
        </p:spPr>
      </p:pic>
      <p:sp>
        <p:nvSpPr>
          <p:cNvPr id="574398209" name="CasellaDiTesto 574398208"/>
          <p:cNvSpPr txBox="1"/>
          <p:nvPr/>
        </p:nvSpPr>
        <p:spPr bwMode="auto">
          <a:xfrm>
            <a:off x="4793024" y="1338258"/>
            <a:ext cx="6946457" cy="5411718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100" dirty="0" err="1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-GB" sz="1100" b="0" i="0" u="none" strike="noStrike" cap="none" spc="0" dirty="0" err="1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</p:txBody>
      </p:sp>
      <p:sp>
        <p:nvSpPr>
          <p:cNvPr id="1564850453" name="CasellaDiTesto 1564850452"/>
          <p:cNvSpPr txBox="1"/>
          <p:nvPr/>
        </p:nvSpPr>
        <p:spPr bwMode="auto">
          <a:xfrm>
            <a:off x="4793024" y="916472"/>
            <a:ext cx="587264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createVisitPlan</a:t>
            </a:r>
            <a:r>
              <a:rPr lang="en" dirty="0"/>
              <a:t>()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9211288-05D8-0131-6F6E-ECE14DF2E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334" y="1545250"/>
            <a:ext cx="6232846" cy="5007071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57853733-3790-5A05-1868-ED71FDDCC120}"/>
              </a:ext>
            </a:extLst>
          </p:cNvPr>
          <p:cNvSpPr/>
          <p:nvPr/>
        </p:nvSpPr>
        <p:spPr>
          <a:xfrm>
            <a:off x="2036445" y="6457950"/>
            <a:ext cx="813435" cy="704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702473" name="Titolo 1"/>
          <p:cNvSpPr>
            <a:spLocks noGrp="1"/>
          </p:cNvSpPr>
          <p:nvPr>
            <p:ph type="title"/>
          </p:nvPr>
        </p:nvSpPr>
        <p:spPr bwMode="auto">
          <a:xfrm>
            <a:off x="838197" y="12697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Testing White Box – </a:t>
            </a:r>
            <a:r>
              <a:rPr lang="en" sz="3600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createVisitPlan()</a:t>
            </a:r>
            <a:endParaRPr b="1" dirty="0">
              <a:solidFill>
                <a:srgbClr val="0070C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48164113" name="CasellaDiTesto 1148164112"/>
          <p:cNvSpPr txBox="1"/>
          <p:nvPr/>
        </p:nvSpPr>
        <p:spPr bwMode="auto">
          <a:xfrm>
            <a:off x="4793024" y="1856842"/>
            <a:ext cx="6948977" cy="4348113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200" dirty="0">
              <a:latin typeface="Liberation Mono"/>
              <a:cs typeface="Liberation Mono"/>
            </a:endParaRPr>
          </a:p>
          <a:p>
            <a:pPr>
              <a:defRPr/>
            </a:pPr>
            <a:endParaRPr sz="1200" dirty="0">
              <a:latin typeface="Liberation Mono"/>
              <a:cs typeface="Liberation Mono"/>
            </a:endParaRPr>
          </a:p>
        </p:txBody>
      </p:sp>
      <p:sp>
        <p:nvSpPr>
          <p:cNvPr id="913019273" name="CasellaDiTesto 913019272"/>
          <p:cNvSpPr txBox="1"/>
          <p:nvPr/>
        </p:nvSpPr>
        <p:spPr bwMode="auto">
          <a:xfrm>
            <a:off x="5216798" y="1304744"/>
            <a:ext cx="610106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/>
              <a:t>Nessuna disponibilitá - visita cancellata</a:t>
            </a:r>
            <a:endParaRPr/>
          </a:p>
        </p:txBody>
      </p:sp>
      <p:pic>
        <p:nvPicPr>
          <p:cNvPr id="895613081" name="Immagine 89561308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5297" y="1121684"/>
            <a:ext cx="3831803" cy="5575898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EA1044A-50A6-8380-7390-3A8144E7A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991" y="2076493"/>
            <a:ext cx="6514682" cy="39088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938630" name="Titolo 1"/>
          <p:cNvSpPr>
            <a:spLocks noGrp="1"/>
          </p:cNvSpPr>
          <p:nvPr>
            <p:ph type="title"/>
          </p:nvPr>
        </p:nvSpPr>
        <p:spPr bwMode="auto">
          <a:xfrm>
            <a:off x="838197" y="12697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Testing White Box – </a:t>
            </a:r>
            <a:r>
              <a:rPr lang="en" sz="3600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createVisitPlan()</a:t>
            </a:r>
            <a:endParaRPr b="1" dirty="0">
              <a:solidFill>
                <a:srgbClr val="0070C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6825330" name="CasellaDiTesto 506825329"/>
          <p:cNvSpPr txBox="1"/>
          <p:nvPr/>
        </p:nvSpPr>
        <p:spPr bwMode="auto">
          <a:xfrm>
            <a:off x="4793024" y="1487804"/>
            <a:ext cx="6953297" cy="5248878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000" dirty="0">
              <a:latin typeface="Liberation Mono"/>
              <a:cs typeface="Liberation Mono"/>
            </a:endParaRPr>
          </a:p>
          <a:p>
            <a:pPr>
              <a:defRPr/>
            </a:pPr>
            <a:endParaRPr sz="1000" dirty="0">
              <a:latin typeface="Liberation Mono"/>
              <a:cs typeface="Liberation Mono"/>
            </a:endParaRPr>
          </a:p>
        </p:txBody>
      </p:sp>
      <p:sp>
        <p:nvSpPr>
          <p:cNvPr id="1366006912" name="CasellaDiTesto 1366006911"/>
          <p:cNvSpPr txBox="1"/>
          <p:nvPr/>
        </p:nvSpPr>
        <p:spPr bwMode="auto">
          <a:xfrm>
            <a:off x="5230047" y="938624"/>
            <a:ext cx="612374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/>
              <a:t>Singola disponibilitá - visita confermata</a:t>
            </a:r>
            <a:endParaRPr/>
          </a:p>
        </p:txBody>
      </p:sp>
      <p:pic>
        <p:nvPicPr>
          <p:cNvPr id="266060674" name="Immagine 26606067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8999" y="1005647"/>
            <a:ext cx="3842318" cy="559119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1BF811A-102D-E2AE-9761-4AD7EE13D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607" y="1756344"/>
            <a:ext cx="6650129" cy="471179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69EE6B2-BB8F-EA6A-7A20-6B9CB2C6D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" t="76386" r="-1"/>
          <a:stretch>
            <a:fillRect/>
          </a:stretch>
        </p:blipFill>
        <p:spPr bwMode="auto">
          <a:xfrm>
            <a:off x="506730" y="5271286"/>
            <a:ext cx="3824587" cy="1325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211538" name="Titolo 1"/>
          <p:cNvSpPr>
            <a:spLocks noGrp="1"/>
          </p:cNvSpPr>
          <p:nvPr>
            <p:ph type="title"/>
          </p:nvPr>
        </p:nvSpPr>
        <p:spPr bwMode="auto">
          <a:xfrm>
            <a:off x="838197" y="12697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" b="1" dirty="0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Testing White Box – </a:t>
            </a:r>
            <a:r>
              <a:rPr lang="en" sz="3600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createVisitPlan()</a:t>
            </a:r>
            <a:endParaRPr b="1" dirty="0">
              <a:solidFill>
                <a:srgbClr val="0070C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64294578" name="CasellaDiTesto 564294577"/>
          <p:cNvSpPr txBox="1"/>
          <p:nvPr/>
        </p:nvSpPr>
        <p:spPr bwMode="auto">
          <a:xfrm>
            <a:off x="4835696" y="1244130"/>
            <a:ext cx="6958337" cy="5458499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-GB" sz="9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</p:txBody>
      </p:sp>
      <p:sp>
        <p:nvSpPr>
          <p:cNvPr id="1756827701" name="CasellaDiTesto 1756827700"/>
          <p:cNvSpPr txBox="1"/>
          <p:nvPr/>
        </p:nvSpPr>
        <p:spPr bwMode="auto">
          <a:xfrm>
            <a:off x="5230047" y="878011"/>
            <a:ext cx="615002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/>
              <a:t>Piú disponibilitá - scelta del volontario migliore</a:t>
            </a:r>
            <a:endParaRPr/>
          </a:p>
        </p:txBody>
      </p:sp>
      <p:pic>
        <p:nvPicPr>
          <p:cNvPr id="317546197" name="Immagine 31754619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82334" y="1121684"/>
            <a:ext cx="3821081" cy="545024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2EBC5F2-31D8-5DF5-7DC6-D6197E0D4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938" y="1376697"/>
            <a:ext cx="5735851" cy="519523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FA0BED8-4871-12C2-55EE-F2FBFA40FF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" t="76386" r="-1"/>
          <a:stretch>
            <a:fillRect/>
          </a:stretch>
        </p:blipFill>
        <p:spPr bwMode="auto">
          <a:xfrm>
            <a:off x="682333" y="5303553"/>
            <a:ext cx="3839327" cy="1325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95650" name="Titolo 1"/>
          <p:cNvSpPr>
            <a:spLocks noGrp="1"/>
          </p:cNvSpPr>
          <p:nvPr>
            <p:ph type="title"/>
          </p:nvPr>
        </p:nvSpPr>
        <p:spPr bwMode="auto">
          <a:xfrm>
            <a:off x="838198" y="365123"/>
            <a:ext cx="5555216" cy="1325561"/>
          </a:xfrm>
        </p:spPr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Refactoring</a:t>
            </a:r>
            <a:endParaRPr/>
          </a:p>
        </p:txBody>
      </p:sp>
      <p:sp>
        <p:nvSpPr>
          <p:cNvPr id="104998061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" dirty="0"/>
              <a:t>Il refactoring della classe </a:t>
            </a:r>
            <a:r>
              <a:rPr lang="en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VisitPlanService</a:t>
            </a:r>
            <a:r>
              <a:rPr lang="en" dirty="0"/>
              <a:t> si é reso necessario perché:</a:t>
            </a:r>
          </a:p>
          <a:p>
            <a:pPr>
              <a:defRPr/>
            </a:pPr>
            <a:r>
              <a:rPr lang="en" dirty="0"/>
              <a:t>contiene l’algoritmo fondamentale per il funzionamento del programma</a:t>
            </a:r>
          </a:p>
          <a:p>
            <a:pPr>
              <a:defRPr/>
            </a:pPr>
            <a:r>
              <a:rPr lang="en" dirty="0"/>
              <a:t>é probabile che possa subire modifiche/aggiunte in futuro</a:t>
            </a:r>
          </a:p>
          <a:p>
            <a:pPr>
              <a:defRPr/>
            </a:pPr>
            <a:r>
              <a:rPr lang="en" dirty="0"/>
              <a:t>combina molte informazioni diverse: visite, tipi di visite, date non disponibili, volontari e relative disponibilitá</a:t>
            </a:r>
          </a:p>
          <a:p>
            <a:pPr marL="0" indent="0">
              <a:buFont typeface="Arial"/>
              <a:buNone/>
              <a:defRPr/>
            </a:pPr>
            <a:r>
              <a:rPr lang="en" dirty="0"/>
              <a:t>Di seguito i pattern di refactoring applicati</a:t>
            </a:r>
            <a:endParaRPr dirty="0"/>
          </a:p>
        </p:txBody>
      </p:sp>
      <p:sp>
        <p:nvSpPr>
          <p:cNvPr id="27321058" name="CasellaDiTesto 27321057"/>
          <p:cNvSpPr txBox="1"/>
          <p:nvPr/>
        </p:nvSpPr>
        <p:spPr bwMode="auto">
          <a:xfrm>
            <a:off x="5753406" y="844844"/>
            <a:ext cx="5851705" cy="537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 sz="2800" b="1" dirty="0">
                <a:solidFill>
                  <a:srgbClr val="0070C0"/>
                </a:solidFill>
                <a:latin typeface="DejaVu Sans Condensed"/>
                <a:ea typeface="DejaVu Sans Condensed"/>
                <a:cs typeface="DejaVu Sans Condensed"/>
              </a:rPr>
              <a:t>Caso di </a:t>
            </a:r>
            <a:r>
              <a:rPr lang="en" sz="2800" b="1" dirty="0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VisitPlanService</a:t>
            </a:r>
            <a:endParaRPr b="1" dirty="0">
              <a:solidFill>
                <a:srgbClr val="0070C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6002" name="Titolo 1"/>
          <p:cNvSpPr>
            <a:spLocks noGrp="1"/>
          </p:cNvSpPr>
          <p:nvPr>
            <p:ph type="title"/>
          </p:nvPr>
        </p:nvSpPr>
        <p:spPr bwMode="auto">
          <a:xfrm>
            <a:off x="839459" y="37802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Refactoring</a:t>
            </a:r>
            <a:endParaRPr b="1">
              <a:solidFill>
                <a:srgbClr val="0070C0"/>
              </a:solidFill>
              <a:latin typeface="Noto Sans"/>
              <a:cs typeface="Noto Sans"/>
            </a:endParaRPr>
          </a:p>
        </p:txBody>
      </p:sp>
      <p:sp>
        <p:nvSpPr>
          <p:cNvPr id="1040471417" name="CasellaDiTesto 1040471416"/>
          <p:cNvSpPr txBox="1"/>
          <p:nvPr/>
        </p:nvSpPr>
        <p:spPr bwMode="auto">
          <a:xfrm>
            <a:off x="4915206" y="441324"/>
            <a:ext cx="586034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 sz="2800" b="1">
                <a:solidFill>
                  <a:srgbClr val="0070C0"/>
                </a:solidFill>
                <a:latin typeface="DejaVu Sans Condensed"/>
                <a:ea typeface="DejaVu Sans Condensed"/>
                <a:cs typeface="DejaVu Sans Condensed"/>
              </a:rPr>
              <a:t>Extract Method - 1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1689386774" name="CasellaDiTesto 1689386773"/>
          <p:cNvSpPr txBox="1"/>
          <p:nvPr/>
        </p:nvSpPr>
        <p:spPr bwMode="auto">
          <a:xfrm>
            <a:off x="457916" y="1160462"/>
            <a:ext cx="11276167" cy="2575746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</p:txBody>
      </p:sp>
      <p:sp>
        <p:nvSpPr>
          <p:cNvPr id="58203512" name="CasellaDiTesto 58203511"/>
          <p:cNvSpPr txBox="1"/>
          <p:nvPr/>
        </p:nvSpPr>
        <p:spPr bwMode="auto">
          <a:xfrm>
            <a:off x="457916" y="3827462"/>
            <a:ext cx="11278686" cy="2801267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cs typeface="Liberation Mono"/>
            </a:endParaRPr>
          </a:p>
          <a:p>
            <a:pPr>
              <a:defRPr/>
            </a:pPr>
            <a:endParaRPr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</p:txBody>
      </p:sp>
      <p:sp>
        <p:nvSpPr>
          <p:cNvPr id="1698375116" name="CasellaDiTesto 1698375115"/>
          <p:cNvSpPr txBox="1"/>
          <p:nvPr/>
        </p:nvSpPr>
        <p:spPr bwMode="auto">
          <a:xfrm>
            <a:off x="9679349" y="1269043"/>
            <a:ext cx="19952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>
                <a:ln w="6349">
                  <a:solidFill>
                    <a:srgbClr val="000000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Cantarell Extra Bold"/>
                <a:ea typeface="Cantarell Extra Bold"/>
                <a:cs typeface="Cantarell Extra Bold"/>
              </a:rPr>
              <a:t>PRIMA</a:t>
            </a:r>
            <a:endParaRPr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sp>
        <p:nvSpPr>
          <p:cNvPr id="1482612164" name="CasellaDiTesto 1482612163"/>
          <p:cNvSpPr txBox="1"/>
          <p:nvPr/>
        </p:nvSpPr>
        <p:spPr bwMode="auto">
          <a:xfrm>
            <a:off x="9679349" y="3920157"/>
            <a:ext cx="199883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>
                <a:ln w="6349">
                  <a:solidFill>
                    <a:srgbClr val="000000"/>
                  </a:solidFill>
                  <a:prstDash val="solid"/>
                </a:ln>
                <a:solidFill>
                  <a:srgbClr val="92D050"/>
                </a:solidFill>
                <a:latin typeface="Cantarell Extra Bold"/>
                <a:ea typeface="Cantarell Extra Bold"/>
                <a:cs typeface="Cantarell Extra Bold"/>
              </a:rPr>
              <a:t>DOPO</a:t>
            </a:r>
            <a:endParaRPr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B742F04-38A8-7669-38DB-DC0D153B8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40" y="4012582"/>
            <a:ext cx="8968364" cy="26996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E6032D1-982E-D703-0C3F-DDB95B301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20" y="1269043"/>
            <a:ext cx="6206583" cy="234908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684C7A3-9A6F-47C6-7B65-8B7C9CCFB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40" y="4858868"/>
            <a:ext cx="9611959" cy="15336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409532" name="Titolo 1"/>
          <p:cNvSpPr>
            <a:spLocks noGrp="1"/>
          </p:cNvSpPr>
          <p:nvPr>
            <p:ph type="title"/>
          </p:nvPr>
        </p:nvSpPr>
        <p:spPr bwMode="auto">
          <a:xfrm>
            <a:off x="838198" y="37802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Refactoring</a:t>
            </a:r>
            <a:endParaRPr b="1">
              <a:solidFill>
                <a:srgbClr val="0070C0"/>
              </a:solidFill>
              <a:latin typeface="Noto Sans"/>
              <a:cs typeface="Noto Sans"/>
            </a:endParaRPr>
          </a:p>
        </p:txBody>
      </p:sp>
      <p:sp>
        <p:nvSpPr>
          <p:cNvPr id="17675352" name="CasellaDiTesto 17675351"/>
          <p:cNvSpPr txBox="1"/>
          <p:nvPr/>
        </p:nvSpPr>
        <p:spPr bwMode="auto">
          <a:xfrm>
            <a:off x="4383448" y="471802"/>
            <a:ext cx="7416345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 sz="2400" b="1" dirty="0">
                <a:solidFill>
                  <a:srgbClr val="0070C0"/>
                </a:solidFill>
                <a:latin typeface="DejaVu Sans Condensed"/>
                <a:ea typeface="DejaVu Sans Condensed"/>
                <a:cs typeface="DejaVu Sans Condensed"/>
              </a:rPr>
              <a:t>Extract Method - 2 + semplificazione logica</a:t>
            </a:r>
            <a:endParaRPr sz="1400" b="1" dirty="0">
              <a:solidFill>
                <a:srgbClr val="0070C0"/>
              </a:solidFill>
            </a:endParaRPr>
          </a:p>
        </p:txBody>
      </p:sp>
      <p:sp>
        <p:nvSpPr>
          <p:cNvPr id="1873129134" name="CasellaDiTesto 1873129133"/>
          <p:cNvSpPr txBox="1"/>
          <p:nvPr/>
        </p:nvSpPr>
        <p:spPr bwMode="auto">
          <a:xfrm>
            <a:off x="398707" y="1430175"/>
            <a:ext cx="4715837" cy="5056479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r>
              <a:rPr lang="en" sz="1400" b="0" i="0" u="none" strike="noStrike" cap="none" spc="0" dirty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...</a:t>
            </a:r>
            <a:endParaRPr dirty="0"/>
          </a:p>
        </p:txBody>
      </p:sp>
      <p:sp>
        <p:nvSpPr>
          <p:cNvPr id="1625665772" name="CasellaDiTesto 1625665771"/>
          <p:cNvSpPr txBox="1"/>
          <p:nvPr/>
        </p:nvSpPr>
        <p:spPr bwMode="auto">
          <a:xfrm>
            <a:off x="1733553" y="1334946"/>
            <a:ext cx="199559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 dirty="0">
                <a:ln w="6349">
                  <a:solidFill>
                    <a:srgbClr val="000000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Cantarell Extra Bold"/>
                <a:ea typeface="Cantarell Extra Bold"/>
                <a:cs typeface="Cantarell Extra Bold"/>
              </a:rPr>
              <a:t>PRIMA</a:t>
            </a:r>
            <a:endParaRPr dirty="0"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3F2A1D1-7EB4-61C9-4CE3-DBB643312AF4}"/>
              </a:ext>
            </a:extLst>
          </p:cNvPr>
          <p:cNvSpPr txBox="1"/>
          <p:nvPr/>
        </p:nvSpPr>
        <p:spPr bwMode="auto">
          <a:xfrm>
            <a:off x="5157216" y="1428216"/>
            <a:ext cx="6822082" cy="5104117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r>
              <a:rPr lang="en" sz="1400" b="0" i="0" u="none" strike="noStrike" cap="none" spc="0" dirty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...</a:t>
            </a: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sz="12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7C75AB8-DB07-EBAD-94E7-1B0EC47EF9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984"/>
          <a:stretch>
            <a:fillRect/>
          </a:stretch>
        </p:blipFill>
        <p:spPr bwMode="auto">
          <a:xfrm>
            <a:off x="5199924" y="3267721"/>
            <a:ext cx="6754398" cy="1403331"/>
          </a:xfrm>
          <a:prstGeom prst="rect">
            <a:avLst/>
          </a:prstGeom>
        </p:spPr>
      </p:pic>
      <p:sp>
        <p:nvSpPr>
          <p:cNvPr id="23320965" name="CasellaDiTesto 23320964"/>
          <p:cNvSpPr txBox="1"/>
          <p:nvPr/>
        </p:nvSpPr>
        <p:spPr bwMode="auto">
          <a:xfrm>
            <a:off x="7568659" y="1384495"/>
            <a:ext cx="199919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 dirty="0">
                <a:ln w="6349">
                  <a:solidFill>
                    <a:srgbClr val="000000"/>
                  </a:solidFill>
                  <a:prstDash val="solid"/>
                </a:ln>
                <a:solidFill>
                  <a:srgbClr val="92D050"/>
                </a:solidFill>
                <a:latin typeface="Cantarell Extra Bold"/>
                <a:ea typeface="Cantarell Extra Bold"/>
                <a:cs typeface="Cantarell Extra Bold"/>
              </a:rPr>
              <a:t>DOPO</a:t>
            </a:r>
            <a:endParaRPr dirty="0"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3547C12-6A6E-DBAD-B29E-84EB9F125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87" y="2569696"/>
            <a:ext cx="4494530" cy="292240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862128" name="Titolo 1"/>
          <p:cNvSpPr>
            <a:spLocks noGrp="1"/>
          </p:cNvSpPr>
          <p:nvPr>
            <p:ph type="title"/>
          </p:nvPr>
        </p:nvSpPr>
        <p:spPr bwMode="auto">
          <a:xfrm>
            <a:off x="838198" y="3703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Refactoring</a:t>
            </a:r>
            <a:endParaRPr/>
          </a:p>
        </p:txBody>
      </p:sp>
      <p:sp>
        <p:nvSpPr>
          <p:cNvPr id="267580261" name="CasellaDiTesto 267580260"/>
          <p:cNvSpPr txBox="1"/>
          <p:nvPr/>
        </p:nvSpPr>
        <p:spPr bwMode="auto">
          <a:xfrm>
            <a:off x="5753405" y="471040"/>
            <a:ext cx="5870424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 sz="2400" b="1">
                <a:solidFill>
                  <a:srgbClr val="0070C0"/>
                </a:solidFill>
                <a:latin typeface="DejaVu Sans Condensed"/>
                <a:ea typeface="DejaVu Sans Condensed"/>
                <a:cs typeface="DejaVu Sans Condensed"/>
              </a:rPr>
              <a:t>Replace temporary with invocation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437753394" name="CasellaDiTesto 1437753393"/>
          <p:cNvSpPr txBox="1"/>
          <p:nvPr/>
        </p:nvSpPr>
        <p:spPr bwMode="auto">
          <a:xfrm>
            <a:off x="351446" y="1362601"/>
            <a:ext cx="11798655" cy="2801267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r>
              <a:rPr lang="en" sz="1400" dirty="0">
                <a:latin typeface="Liberation Mono"/>
                <a:ea typeface="Liberation Mono"/>
                <a:cs typeface="Liberation Mono"/>
              </a:rPr>
              <a:t>...</a:t>
            </a:r>
            <a:endParaRPr sz="1400" dirty="0">
              <a:latin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r>
              <a:rPr lang="en" sz="1400" b="0" i="0" u="none" strike="noStrike" cap="none" spc="0" dirty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…</a:t>
            </a: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</p:txBody>
      </p:sp>
      <p:sp>
        <p:nvSpPr>
          <p:cNvPr id="711399983" name="CasellaDiTesto 711399982"/>
          <p:cNvSpPr txBox="1"/>
          <p:nvPr/>
        </p:nvSpPr>
        <p:spPr bwMode="auto">
          <a:xfrm>
            <a:off x="351446" y="4309029"/>
            <a:ext cx="11805134" cy="2124703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r>
              <a:rPr lang="en" sz="1400" b="0" i="0" u="none" strike="noStrike" cap="none" spc="0" dirty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...</a:t>
            </a:r>
            <a:endParaRPr sz="1400" b="0" i="0" u="none" strike="noStrike" cap="none" spc="0" dirty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r>
              <a:rPr lang="it-IT" sz="1400" dirty="0">
                <a:latin typeface="Liberation Mono"/>
                <a:ea typeface="Liberation Mono"/>
                <a:cs typeface="Liberation Mono"/>
              </a:rPr>
              <a:t>…</a:t>
            </a: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</a:endParaRPr>
          </a:p>
        </p:txBody>
      </p:sp>
      <p:sp>
        <p:nvSpPr>
          <p:cNvPr id="1563974945" name="CasellaDiTesto 1563974944"/>
          <p:cNvSpPr txBox="1"/>
          <p:nvPr/>
        </p:nvSpPr>
        <p:spPr bwMode="auto">
          <a:xfrm>
            <a:off x="9679348" y="1459902"/>
            <a:ext cx="199595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>
                <a:ln w="6349">
                  <a:solidFill>
                    <a:srgbClr val="000000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Cantarell Extra Bold"/>
                <a:ea typeface="Cantarell Extra Bold"/>
                <a:cs typeface="Cantarell Extra Bold"/>
              </a:rPr>
              <a:t>PRIMA</a:t>
            </a:r>
            <a:endParaRPr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sp>
        <p:nvSpPr>
          <p:cNvPr id="1990802124" name="CasellaDiTesto 1990802123"/>
          <p:cNvSpPr txBox="1"/>
          <p:nvPr/>
        </p:nvSpPr>
        <p:spPr bwMode="auto">
          <a:xfrm>
            <a:off x="9840999" y="4302616"/>
            <a:ext cx="199955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 dirty="0">
                <a:ln w="6349">
                  <a:solidFill>
                    <a:srgbClr val="000000"/>
                  </a:solidFill>
                  <a:prstDash val="solid"/>
                </a:ln>
                <a:solidFill>
                  <a:srgbClr val="92D050"/>
                </a:solidFill>
                <a:latin typeface="Cantarell Extra Bold"/>
                <a:ea typeface="Cantarell Extra Bold"/>
                <a:cs typeface="Cantarell Extra Bold"/>
              </a:rPr>
              <a:t>DOPO</a:t>
            </a:r>
            <a:endParaRPr dirty="0"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FFE175C-F081-5588-BE3E-EFE52E78C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2" y="1459903"/>
            <a:ext cx="4455234" cy="10706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5A2C58F-B136-2162-B29A-B16CA8DAE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2" y="2897116"/>
            <a:ext cx="3549303" cy="23212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AA5F418-0F93-488F-372B-CE62A3EB4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0" y="4474693"/>
            <a:ext cx="5494624" cy="24388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56A646D-E1D5-3731-3CA1-DD7FB902C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86" y="5128131"/>
            <a:ext cx="3548639" cy="22987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8F375EA-8DBE-7B03-0843-AE67C10EBA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10" y="5750556"/>
            <a:ext cx="6099838" cy="47961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A899F57E-B1D2-B753-2DAF-2EDCE37083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10" y="3422731"/>
            <a:ext cx="4367248" cy="47484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309608" name="Titolo 1"/>
          <p:cNvSpPr>
            <a:spLocks noGrp="1"/>
          </p:cNvSpPr>
          <p:nvPr>
            <p:ph type="title"/>
          </p:nvPr>
        </p:nvSpPr>
        <p:spPr bwMode="auto">
          <a:xfrm>
            <a:off x="838198" y="29663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Refactoring</a:t>
            </a:r>
            <a:endParaRPr/>
          </a:p>
        </p:txBody>
      </p:sp>
      <p:sp>
        <p:nvSpPr>
          <p:cNvPr id="356032845" name="CasellaDiTesto 356032844"/>
          <p:cNvSpPr txBox="1"/>
          <p:nvPr/>
        </p:nvSpPr>
        <p:spPr bwMode="auto">
          <a:xfrm>
            <a:off x="5383575" y="433185"/>
            <a:ext cx="647758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 sz="2600" b="1">
                <a:solidFill>
                  <a:srgbClr val="0070C0"/>
                </a:solidFill>
                <a:latin typeface="DejaVu Sans Condensed"/>
                <a:ea typeface="DejaVu Sans Condensed"/>
                <a:cs typeface="DejaVu Sans Condensed"/>
              </a:rPr>
              <a:t>Sostituzione di oggetti con relativi id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589703209" name="CasellaDiTesto 1589703208"/>
          <p:cNvSpPr txBox="1"/>
          <p:nvPr/>
        </p:nvSpPr>
        <p:spPr bwMode="auto">
          <a:xfrm>
            <a:off x="351447" y="1368611"/>
            <a:ext cx="11813415" cy="2575746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</p:txBody>
      </p:sp>
      <p:sp>
        <p:nvSpPr>
          <p:cNvPr id="1761411735" name="CasellaDiTesto 1761411734"/>
          <p:cNvSpPr txBox="1"/>
          <p:nvPr/>
        </p:nvSpPr>
        <p:spPr bwMode="auto">
          <a:xfrm>
            <a:off x="351447" y="4001026"/>
            <a:ext cx="11844014" cy="2575746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</p:txBody>
      </p:sp>
      <p:sp>
        <p:nvSpPr>
          <p:cNvPr id="1841704908" name="CasellaDiTesto 1841704907"/>
          <p:cNvSpPr txBox="1"/>
          <p:nvPr/>
        </p:nvSpPr>
        <p:spPr bwMode="auto">
          <a:xfrm>
            <a:off x="10039334" y="4944940"/>
            <a:ext cx="199955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>
                <a:ln w="6349">
                  <a:solidFill>
                    <a:srgbClr val="000000"/>
                  </a:solidFill>
                  <a:prstDash val="solid"/>
                </a:ln>
                <a:solidFill>
                  <a:srgbClr val="92D050"/>
                </a:solidFill>
                <a:latin typeface="Cantarell Extra Bold"/>
                <a:ea typeface="Cantarell Extra Bold"/>
                <a:cs typeface="Cantarell Extra Bold"/>
              </a:rPr>
              <a:t>DOPO</a:t>
            </a:r>
            <a:endParaRPr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sp>
        <p:nvSpPr>
          <p:cNvPr id="1437168857" name="CasellaDiTesto 1437168856"/>
          <p:cNvSpPr txBox="1"/>
          <p:nvPr/>
        </p:nvSpPr>
        <p:spPr bwMode="auto">
          <a:xfrm>
            <a:off x="10042572" y="2299139"/>
            <a:ext cx="199631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 dirty="0">
                <a:ln w="6349">
                  <a:solidFill>
                    <a:srgbClr val="000000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Cantarell Extra Bold"/>
                <a:ea typeface="Cantarell Extra Bold"/>
                <a:cs typeface="Cantarell Extra Bold"/>
              </a:rPr>
              <a:t>PRIMA</a:t>
            </a:r>
            <a:endParaRPr dirty="0"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61536B9-54DB-3193-7743-8E677962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57" y="1590487"/>
            <a:ext cx="8014847" cy="213199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0EA05F5-6980-32DF-24A4-D0DAD8F13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57" y="4124267"/>
            <a:ext cx="8619498" cy="222698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EA5239C-028B-28CB-C32C-FF72ED67910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409532" name="Titolo 1">
            <a:extLst>
              <a:ext uri="{FF2B5EF4-FFF2-40B4-BE49-F238E27FC236}">
                <a16:creationId xmlns:a16="http://schemas.microsoft.com/office/drawing/2014/main" id="{6326C1B5-C862-2EAD-883F-BBDFD195EFA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198" y="37802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" b="1">
                <a:solidFill>
                  <a:srgbClr val="0070C0"/>
                </a:solidFill>
                <a:latin typeface="Noto Sans"/>
                <a:ea typeface="Noto Sans"/>
                <a:cs typeface="Noto Sans"/>
              </a:rPr>
              <a:t>Refactoring</a:t>
            </a:r>
            <a:endParaRPr b="1">
              <a:solidFill>
                <a:srgbClr val="0070C0"/>
              </a:solidFill>
              <a:latin typeface="Noto Sans"/>
              <a:cs typeface="Noto Sans"/>
            </a:endParaRP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F013A84-0B59-9A05-519B-9D3A095B5DD6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7915829" y="1541557"/>
            <a:ext cx="4200868" cy="4897574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Char char="-"/>
              <a:defRPr/>
            </a:pPr>
            <a:r>
              <a:rPr lang="en" dirty="0"/>
              <a:t>Da 59 a 27 righe di codice</a:t>
            </a:r>
          </a:p>
          <a:p>
            <a:pPr>
              <a:buFontTx/>
              <a:buChar char="-"/>
              <a:defRPr/>
            </a:pPr>
            <a:r>
              <a:rPr lang="en" dirty="0"/>
              <a:t>Rimosso commenti superflui, sostituendoli con metodi con nomi esplicativi</a:t>
            </a:r>
          </a:p>
          <a:p>
            <a:pPr>
              <a:buFontTx/>
              <a:buChar char="-"/>
              <a:defRPr/>
            </a:pPr>
            <a:r>
              <a:rPr lang="en" dirty="0"/>
              <a:t>Migliorato </a:t>
            </a:r>
            <a:r>
              <a:rPr lang="it-IT" dirty="0"/>
              <a:t>i nomi delle variabili temporanee, rimuovendole se non strettamente necessarie</a:t>
            </a:r>
            <a:endParaRPr lang="en" dirty="0"/>
          </a:p>
          <a:p>
            <a:pPr>
              <a:buFontTx/>
              <a:buChar char="-"/>
              <a:defRPr/>
            </a:pPr>
            <a:r>
              <a:rPr lang="en" dirty="0"/>
              <a:t>Snellito la logica di calcolo dei dati, assegnando responsabilità a classi più adatte e passando ai metodi solo </a:t>
            </a:r>
            <a:r>
              <a:rPr lang="it-IT" dirty="0"/>
              <a:t>i parametri necessari</a:t>
            </a:r>
            <a:endParaRPr dirty="0"/>
          </a:p>
        </p:txBody>
      </p:sp>
      <p:sp>
        <p:nvSpPr>
          <p:cNvPr id="17675352" name="CasellaDiTesto 17675351">
            <a:extLst>
              <a:ext uri="{FF2B5EF4-FFF2-40B4-BE49-F238E27FC236}">
                <a16:creationId xmlns:a16="http://schemas.microsoft.com/office/drawing/2014/main" id="{202369C8-9EEE-98F8-8605-B92A2B11399A}"/>
              </a:ext>
            </a:extLst>
          </p:cNvPr>
          <p:cNvSpPr txBox="1"/>
          <p:nvPr/>
        </p:nvSpPr>
        <p:spPr bwMode="auto">
          <a:xfrm>
            <a:off x="4383448" y="471802"/>
            <a:ext cx="7416345" cy="46698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" sz="2400" b="1" dirty="0">
                <a:solidFill>
                  <a:srgbClr val="0070C0"/>
                </a:solidFill>
                <a:latin typeface="DejaVu Sans Condensed"/>
                <a:ea typeface="DejaVu Sans Condensed"/>
                <a:cs typeface="DejaVu Sans Condensed"/>
              </a:rPr>
              <a:t>Visione completa del refactor</a:t>
            </a:r>
            <a:endParaRPr sz="1400" b="1" dirty="0">
              <a:solidFill>
                <a:srgbClr val="0070C0"/>
              </a:solidFill>
            </a:endParaRPr>
          </a:p>
        </p:txBody>
      </p:sp>
      <p:sp>
        <p:nvSpPr>
          <p:cNvPr id="1873129134" name="CasellaDiTesto 1873129133">
            <a:extLst>
              <a:ext uri="{FF2B5EF4-FFF2-40B4-BE49-F238E27FC236}">
                <a16:creationId xmlns:a16="http://schemas.microsoft.com/office/drawing/2014/main" id="{D88AA0BB-1CE9-18F4-446B-9F803DDEA7D7}"/>
              </a:ext>
            </a:extLst>
          </p:cNvPr>
          <p:cNvSpPr txBox="1"/>
          <p:nvPr/>
        </p:nvSpPr>
        <p:spPr bwMode="auto">
          <a:xfrm>
            <a:off x="398707" y="1430175"/>
            <a:ext cx="3166795" cy="5008956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</p:txBody>
      </p:sp>
      <p:sp>
        <p:nvSpPr>
          <p:cNvPr id="1625665772" name="CasellaDiTesto 1625665771">
            <a:extLst>
              <a:ext uri="{FF2B5EF4-FFF2-40B4-BE49-F238E27FC236}">
                <a16:creationId xmlns:a16="http://schemas.microsoft.com/office/drawing/2014/main" id="{B7D6C1E7-A645-5B00-6E94-2F0EBA8A30BA}"/>
              </a:ext>
            </a:extLst>
          </p:cNvPr>
          <p:cNvSpPr txBox="1"/>
          <p:nvPr/>
        </p:nvSpPr>
        <p:spPr bwMode="auto">
          <a:xfrm>
            <a:off x="860503" y="901117"/>
            <a:ext cx="199559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 dirty="0">
                <a:ln w="6349">
                  <a:solidFill>
                    <a:srgbClr val="000000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Cantarell Extra Bold"/>
                <a:ea typeface="Cantarell Extra Bold"/>
                <a:cs typeface="Cantarell Extra Bold"/>
              </a:rPr>
              <a:t>PRIMA</a:t>
            </a:r>
            <a:endParaRPr dirty="0"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8BDFBCB-7C0D-80A0-850A-770F6E155EEA}"/>
              </a:ext>
            </a:extLst>
          </p:cNvPr>
          <p:cNvSpPr txBox="1"/>
          <p:nvPr/>
        </p:nvSpPr>
        <p:spPr bwMode="auto">
          <a:xfrm>
            <a:off x="3965972" y="1464791"/>
            <a:ext cx="3711113" cy="4939724"/>
          </a:xfrm>
          <a:prstGeom prst="roundRect">
            <a:avLst>
              <a:gd name="adj" fmla="val 5796"/>
            </a:avLst>
          </a:prstGeom>
          <a:solidFill>
            <a:schemeClr val="bg1">
              <a:alpha val="49999"/>
            </a:schemeClr>
          </a:solidFill>
          <a:ln w="12699">
            <a:solidFill>
              <a:schemeClr val="tx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lang="en-GB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it-IT" sz="1400" dirty="0"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b="0" i="0" u="none" strike="noStrike" cap="none" spc="0" dirty="0">
              <a:solidFill>
                <a:schemeClr val="tx1"/>
              </a:solidFill>
              <a:latin typeface="Liberation Mono"/>
              <a:ea typeface="Liberation Mono"/>
              <a:cs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lang="en" sz="1400" dirty="0">
              <a:latin typeface="Liberation Mono"/>
            </a:endParaRPr>
          </a:p>
          <a:p>
            <a:pPr>
              <a:defRPr/>
            </a:pPr>
            <a:endParaRPr sz="1200" dirty="0"/>
          </a:p>
        </p:txBody>
      </p:sp>
      <p:sp>
        <p:nvSpPr>
          <p:cNvPr id="23320965" name="CasellaDiTesto 23320964">
            <a:extLst>
              <a:ext uri="{FF2B5EF4-FFF2-40B4-BE49-F238E27FC236}">
                <a16:creationId xmlns:a16="http://schemas.microsoft.com/office/drawing/2014/main" id="{42278CB2-CD2F-5DCB-CD2F-6FB8DD37C2AD}"/>
              </a:ext>
            </a:extLst>
          </p:cNvPr>
          <p:cNvSpPr txBox="1"/>
          <p:nvPr/>
        </p:nvSpPr>
        <p:spPr bwMode="auto">
          <a:xfrm>
            <a:off x="4797663" y="901117"/>
            <a:ext cx="199919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spAutoFit/>
          </a:bodyPr>
          <a:lstStyle/>
          <a:p>
            <a:pPr algn="ctr">
              <a:defRPr/>
            </a:pPr>
            <a:r>
              <a:rPr lang="en" sz="3600" b="1" dirty="0">
                <a:ln w="6349">
                  <a:solidFill>
                    <a:srgbClr val="000000"/>
                  </a:solidFill>
                  <a:prstDash val="solid"/>
                </a:ln>
                <a:solidFill>
                  <a:srgbClr val="92D050"/>
                </a:solidFill>
                <a:latin typeface="Cantarell Extra Bold"/>
                <a:ea typeface="Cantarell Extra Bold"/>
                <a:cs typeface="Cantarell Extra Bold"/>
              </a:rPr>
              <a:t>DOPO</a:t>
            </a:r>
            <a:endParaRPr dirty="0">
              <a:ln w="6349">
                <a:solidFill>
                  <a:schemeClr val="tx1"/>
                </a:solidFill>
                <a:prstDash val="solid"/>
              </a:ln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FF66EF4-3307-AACB-8DE6-41CE55C50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96" y="1677496"/>
            <a:ext cx="2341413" cy="271634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BC91ABC-D595-454B-B834-C60510040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96" y="4347793"/>
            <a:ext cx="2341413" cy="188629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2C9B079-16DC-0A4F-B740-FB47AB6E2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823" y="3158513"/>
            <a:ext cx="3128519" cy="191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98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</TotalTime>
  <Words>1079</Words>
  <Application>Microsoft Office PowerPoint</Application>
  <PresentationFormat>Widescreen</PresentationFormat>
  <Paragraphs>430</Paragraphs>
  <Slides>29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Aptos</vt:lpstr>
      <vt:lpstr>Aptos Display</vt:lpstr>
      <vt:lpstr>Arial</vt:lpstr>
      <vt:lpstr>Cantarell</vt:lpstr>
      <vt:lpstr>Cantarell Extra Bold</vt:lpstr>
      <vt:lpstr>Cascadia Code</vt:lpstr>
      <vt:lpstr>DejaVu Sans Condensed</vt:lpstr>
      <vt:lpstr>Liberation Mono</vt:lpstr>
      <vt:lpstr>NimbusSanL</vt:lpstr>
      <vt:lpstr>Noto Sans</vt:lpstr>
      <vt:lpstr>Open Sans</vt:lpstr>
      <vt:lpstr>Tema di Office</vt:lpstr>
      <vt:lpstr>Centro Visite</vt:lpstr>
      <vt:lpstr>Indice dei contenuti</vt:lpstr>
      <vt:lpstr>Diagramma dei package</vt:lpstr>
      <vt:lpstr>Separazione modello-vista</vt:lpstr>
      <vt:lpstr>Esempio con SSD</vt:lpstr>
      <vt:lpstr>GRASP 1 – information expert</vt:lpstr>
      <vt:lpstr>GRASP 1 – information expert</vt:lpstr>
      <vt:lpstr>GRASP 1 – information expert</vt:lpstr>
      <vt:lpstr>GRASP 2 - Controller</vt:lpstr>
      <vt:lpstr>GRASP 2 - Controller</vt:lpstr>
      <vt:lpstr>GRASP 2 - Controller</vt:lpstr>
      <vt:lpstr>SOLID 1 – dependency inversion</vt:lpstr>
      <vt:lpstr>SOLID 2 – Interface segregation</vt:lpstr>
      <vt:lpstr>GoF 1 – Strategy</vt:lpstr>
      <vt:lpstr>PowerPoint Presentation</vt:lpstr>
      <vt:lpstr>PowerPoint Presentation</vt:lpstr>
      <vt:lpstr>GoF 2 – Adapter</vt:lpstr>
      <vt:lpstr>PowerPoint Presentation</vt:lpstr>
      <vt:lpstr>Testing White Box – createVisitPlan()</vt:lpstr>
      <vt:lpstr>Testing White Box – createVisitPlan()</vt:lpstr>
      <vt:lpstr>Testing White Box – createVisitPlan()</vt:lpstr>
      <vt:lpstr>Testing White Box – createVisitPlan()</vt:lpstr>
      <vt:lpstr>Testing White Box – createVisitPlan()</vt:lpstr>
      <vt:lpstr>Refactoring</vt:lpstr>
      <vt:lpstr>Refactoring</vt:lpstr>
      <vt:lpstr>Refactoring</vt:lpstr>
      <vt:lpstr>Refactoring</vt:lpstr>
      <vt:lpstr>Refactoring</vt:lpstr>
      <vt:lpstr>Refactoring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Lorenzo Dolzanelli</cp:lastModifiedBy>
  <cp:revision>26</cp:revision>
  <cp:lastPrinted>2025-10-30T20:59:50Z</cp:lastPrinted>
  <dcterms:created xsi:type="dcterms:W3CDTF">2012-12-03T06:56:55Z</dcterms:created>
  <dcterms:modified xsi:type="dcterms:W3CDTF">2025-11-10T14:40:52Z</dcterms:modified>
</cp:coreProperties>
</file>