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79" r:id="rId10"/>
    <p:sldId id="280" r:id="rId11"/>
    <p:sldId id="265" r:id="rId12"/>
    <p:sldId id="266" r:id="rId13"/>
    <p:sldId id="267" r:id="rId14"/>
    <p:sldId id="281" r:id="rId15"/>
    <p:sldId id="282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x="12192000" cy="6858000"/>
  <p:notesSz cx="6858000" cy="9144000"/>
  <p:defaultTextStyle>
    <a:defPPr>
      <a:defRPr lang="it-IT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3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2472" y="67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932334" name="Segnaposto intestazion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201415694" name="Segnaposto dat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it-IT"/>
              <a:t>18/10/2025</a:t>
            </a:fld>
            <a:endParaRPr lang="it-IT"/>
          </a:p>
        </p:txBody>
      </p:sp>
      <p:sp>
        <p:nvSpPr>
          <p:cNvPr id="437000211" name="Segnaposto immagine diapositiva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it-IT"/>
          </a:p>
        </p:txBody>
      </p:sp>
      <p:sp>
        <p:nvSpPr>
          <p:cNvPr id="412366212" name="Segnaposto Note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620273658" name="Segnaposto piè di pagina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030847972" name="Segnaposto numero diapositiva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it-IT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6709154" name="Segnaposto immagine diapositiva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2559170" name="Segnaposto Note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it-IT">
              <a:latin typeface="Arial"/>
              <a:cs typeface="Arial"/>
            </a:endParaRPr>
          </a:p>
        </p:txBody>
      </p:sp>
      <p:sp>
        <p:nvSpPr>
          <p:cNvPr id="1847530888" name="Segnaposto numero diapositiva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it-IT"/>
              <a:t>1</a:t>
            </a:fld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996306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64258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1821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90700E5-196F-F5BA-0D79-8AB7D4EE95B4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112726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5644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2704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2D84ED-ECE8-373D-C4B2-0C151F616E20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4557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066519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83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D98B3A-AE8A-2B48-B60D-2D19AEA09961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331497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00213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858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BD46CB-D826-5F31-9C25-5AA9FC7A4C14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55659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99664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438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2480C3-7ECA-BEA5-1D8D-6A196042D57D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78334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387466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0013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CBDFB4-5DE2-4395-7D2B-3F76437FF0D3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74902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43393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317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F3189F-EC7B-F6F2-E7B6-A1DC7CF396BE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90413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74033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7425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D550A-33FF-F345-33F7-C626DCFF789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720058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54652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7099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354E2A-FD91-BE13-31E5-F9D7895BA612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815674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987769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8103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53592B-FCDD-6163-0739-6BAACF3A1F45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792363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30696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7858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D94749-6FDA-4E9C-36AB-734731960A87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07002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87769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22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F52480-0813-D9C9-E145-46E7CB451224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13695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937560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1450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B3A339-E4F5-9849-5159-B780C46036EF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37775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522184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0986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754AAF7-24FB-4C7D-56D0-9F6828B47495}" type="slidenum">
              <a:rPr/>
              <a:t>19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64284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70725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569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C01B90-6EF3-4614-96E6-28D52D163363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029045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776483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620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B0ED42-154C-37AC-EA60-9CE5185831C2}" type="slidenum">
              <a:rPr/>
              <a:t>21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32842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76207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39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CE3B5A-C7B8-C31E-D05F-021B77FFEF0E}" type="slidenum">
              <a:rPr/>
              <a:t>22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02503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167111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1572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3A4F64-1DDB-898D-3141-351BAF57DA12}" type="slidenum">
              <a:rPr/>
              <a:t>23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861079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9768646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985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EEA2AC-6940-83FF-9A62-FDE019F8CFBA}" type="slidenum">
              <a:rPr/>
              <a:t>24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148440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678641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777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DDF272-15C9-97B8-0696-B071723A3A34}" type="slidenum">
              <a:rPr/>
              <a:t>25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16606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74845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6402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195650-B0F5-4319-E0B1-4A630F16C93D}" type="slidenum">
              <a:rPr/>
              <a:t>26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Diapositiva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173846" name="Titolo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096900696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</a:p>
        </p:txBody>
      </p:sp>
      <p:sp>
        <p:nvSpPr>
          <p:cNvPr id="2098076908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18/10/2025</a:t>
            </a:fld>
            <a:endParaRPr lang="it-IT"/>
          </a:p>
        </p:txBody>
      </p:sp>
      <p:sp>
        <p:nvSpPr>
          <p:cNvPr id="1451742043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8279587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olo e contenu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728749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473187805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042055707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18/10/2025</a:t>
            </a:fld>
            <a:endParaRPr lang="it-IT"/>
          </a:p>
        </p:txBody>
      </p:sp>
      <p:sp>
        <p:nvSpPr>
          <p:cNvPr id="636313684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3051459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Intestazione sezion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9162318" name="Titolo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679328813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558988994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18/10/2025</a:t>
            </a:fld>
            <a:endParaRPr lang="it-IT"/>
          </a:p>
        </p:txBody>
      </p:sp>
      <p:sp>
        <p:nvSpPr>
          <p:cNvPr id="769315715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37338204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Due contenuti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6973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216792708" name="Segnaposto contenut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771311523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2062770771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18/10/2025</a:t>
            </a:fld>
            <a:endParaRPr lang="it-IT"/>
          </a:p>
        </p:txBody>
      </p:sp>
      <p:sp>
        <p:nvSpPr>
          <p:cNvPr id="207704897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1966146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nfron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575459" name="Titolo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403074179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034376452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925355340" name="Segnaposto testo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2014180446" name="Segnaposto contenuto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100837243" name="Segnaposto dat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18/10/2025</a:t>
            </a:fld>
            <a:endParaRPr lang="it-IT"/>
          </a:p>
        </p:txBody>
      </p:sp>
      <p:sp>
        <p:nvSpPr>
          <p:cNvPr id="319951023" name="Segnaposto piè di pagina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42465953" name="Segnaposto numero diapositiva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Solo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9535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069688320" name="Segnaposto dat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18/10/2025</a:t>
            </a:fld>
            <a:endParaRPr lang="it-IT"/>
          </a:p>
        </p:txBody>
      </p:sp>
      <p:sp>
        <p:nvSpPr>
          <p:cNvPr id="1421529815" name="Segnaposto piè di pagina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8063273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Vuot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7618487" name="Segnaposto dat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18/10/2025</a:t>
            </a:fld>
            <a:endParaRPr lang="it-IT"/>
          </a:p>
        </p:txBody>
      </p:sp>
      <p:sp>
        <p:nvSpPr>
          <p:cNvPr id="1143868976" name="Segnaposto piè di pagina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78904580" name="Segnaposto numero diapositiva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uto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583672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486731977" name="Segnaposto contenuto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565939208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611833288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18/10/2025</a:t>
            </a:fld>
            <a:endParaRPr lang="it-IT"/>
          </a:p>
        </p:txBody>
      </p:sp>
      <p:sp>
        <p:nvSpPr>
          <p:cNvPr id="861767685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3216569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Immagine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702206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144436781" name="Segnaposto immagine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it-IT"/>
              <a:t>Fare clic sull'icona per aggiungere un'immagine</a:t>
            </a:r>
          </a:p>
        </p:txBody>
      </p:sp>
      <p:sp>
        <p:nvSpPr>
          <p:cNvPr id="994291581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829581445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18/10/2025</a:t>
            </a:fld>
            <a:endParaRPr lang="it-IT"/>
          </a:p>
        </p:txBody>
      </p:sp>
      <p:sp>
        <p:nvSpPr>
          <p:cNvPr id="639750667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17308643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484018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867211462" name="Segnaposto testo verticale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429115142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18/10/2025</a:t>
            </a:fld>
            <a:endParaRPr lang="it-IT"/>
          </a:p>
        </p:txBody>
      </p:sp>
      <p:sp>
        <p:nvSpPr>
          <p:cNvPr id="1219216710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5903573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4356999" name="Titolo vertica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437053011" name="Segnaposto testo verticale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729347285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18/10/2025</a:t>
            </a:fld>
            <a:endParaRPr lang="it-IT"/>
          </a:p>
        </p:txBody>
      </p:sp>
      <p:sp>
        <p:nvSpPr>
          <p:cNvPr id="1905350434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6792246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20000"/>
                <a:lumOff val="80000"/>
              </a:schemeClr>
            </a:gs>
            <a:gs pos="23000">
              <a:schemeClr val="bg1"/>
            </a:gs>
            <a:gs pos="88000">
              <a:schemeClr val="bg1"/>
            </a:gs>
            <a:gs pos="100000">
              <a:schemeClr val="accent4">
                <a:lumMod val="20000"/>
                <a:lumOff val="80000"/>
              </a:schemeClr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7120540" name="Segnaposto titolo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841652565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90234425" name="Segnaposto data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it-IT"/>
              <a:t>18/10/2025</a:t>
            </a:fld>
            <a:endParaRPr lang="it-IT"/>
          </a:p>
        </p:txBody>
      </p:sp>
      <p:sp>
        <p:nvSpPr>
          <p:cNvPr id="1459486652" name="Segnaposto piè di pagina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778475728" name="Segnaposto numero diapositiva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13951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latin typeface="NimbusSanL"/>
                <a:ea typeface="NimbusSanL"/>
                <a:cs typeface="NimbusSanL"/>
              </a:rPr>
              <a:t>Centro Visite</a:t>
            </a:r>
            <a:endParaRPr lang="it-IT"/>
          </a:p>
        </p:txBody>
      </p:sp>
      <p:sp>
        <p:nvSpPr>
          <p:cNvPr id="1853021603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en">
                <a:latin typeface="Cantarell"/>
                <a:ea typeface="Cantarell"/>
                <a:cs typeface="Cantarell"/>
              </a:rPr>
              <a:t>Progetto di Ingegneria del Software – Parte B</a:t>
            </a:r>
            <a:endParaRPr>
              <a:latin typeface="Cantarell"/>
              <a:cs typeface="Cantarell"/>
            </a:endParaRPr>
          </a:p>
        </p:txBody>
      </p:sp>
      <p:sp>
        <p:nvSpPr>
          <p:cNvPr id="1485969275" name="CasellaDiTesto 1485969274"/>
          <p:cNvSpPr txBox="1"/>
          <p:nvPr/>
        </p:nvSpPr>
        <p:spPr bwMode="auto">
          <a:xfrm>
            <a:off x="3768161" y="4166278"/>
            <a:ext cx="5003986" cy="17377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Lorenzo Dolzanelli</a:t>
            </a:r>
            <a:r>
              <a:rPr dirty="0">
                <a:latin typeface="DejaVu Sans Condensed"/>
                <a:cs typeface="DejaVu Sans Condensed"/>
              </a:rPr>
              <a:t>	</a:t>
            </a:r>
            <a:r>
              <a:rPr lang="en" dirty="0">
                <a:latin typeface="DejaVu Sans Condensed"/>
                <a:ea typeface="DejaVu Sans Condensed"/>
                <a:cs typeface="DejaVu Sans Condensed"/>
              </a:rPr>
              <a:t>MAT 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740643</a:t>
            </a:r>
            <a:endParaRPr dirty="0">
              <a:latin typeface="DejaVu Sans Condensed"/>
              <a:cs typeface="DejaVu Sans Condensed"/>
            </a:endParaRPr>
          </a:p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Khater Abdelaziz	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MAT 741614</a:t>
            </a:r>
            <a:endParaRPr dirty="0">
              <a:latin typeface="DejaVu Sans Condensed"/>
              <a:cs typeface="DejaVu Sans Condensed"/>
            </a:endParaRPr>
          </a:p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Daniele Miguel Franchi	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MAT 743230</a:t>
            </a:r>
            <a:endParaRPr dirty="0">
              <a:latin typeface="Open Sans"/>
              <a:cs typeface="Open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542285" name="Titolo 1"/>
          <p:cNvSpPr>
            <a:spLocks noGrp="1"/>
          </p:cNvSpPr>
          <p:nvPr>
            <p:ph type="title"/>
          </p:nvPr>
        </p:nvSpPr>
        <p:spPr bwMode="auto">
          <a:prstGeom prst="rect">
            <a:avLst/>
          </a:prstGeom>
          <a:ln w="12699">
            <a:noFill/>
            <a:prstDash val="solid"/>
          </a:ln>
        </p:spPr>
        <p:txBody>
          <a:bodyPr/>
          <a:lstStyle/>
          <a:p>
            <a:pPr>
              <a:defRPr/>
            </a:pPr>
            <a:r>
              <a:rPr lang="en" b="1" dirty="0">
                <a:ln w="6349">
                  <a:noFill/>
                  <a:prstDash val="solid"/>
                </a:ln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Indice dei contenuti</a:t>
            </a:r>
            <a:endParaRPr dirty="0"/>
          </a:p>
        </p:txBody>
      </p:sp>
      <p:sp>
        <p:nvSpPr>
          <p:cNvPr id="324859497" name="Segnaposto contenuto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lnSpcReduction="13000"/>
          </a:bodyPr>
          <a:lstStyle/>
          <a:p>
            <a:pPr marL="39402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Separazione modello-vista			</a:t>
            </a:r>
            <a:r>
              <a:rPr lang="en-GB" sz="1800" dirty="0">
                <a:latin typeface="DejaVu Sans Condensed"/>
                <a:ea typeface="DejaVu Sans Condensed"/>
                <a:cs typeface="DejaVu Sans Condensed"/>
              </a:rPr>
              <a:t>n slide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pattern GRASP		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GRASP 1 – Information Expert		n slide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GRASP 2 – Controller				n slide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pattern SOLID			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SOLID 1 – Dependency Inversion 		n slide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SOLID 2 – Interface Segregation		n slide</a:t>
            </a:r>
          </a:p>
          <a:p>
            <a:pPr marL="33687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Esempi di pattern GoF</a:t>
            </a: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GoF 1 – Strategy				n slide</a:t>
            </a: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GoF 2 – Adapter				n slide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testing					n slide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refactoring				n slide</a:t>
            </a:r>
            <a:endParaRPr sz="1800" dirty="0">
              <a:latin typeface="Cantarell"/>
              <a:cs typeface="Cantarel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19996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Diagramma dei package</a:t>
            </a:r>
            <a:endParaRPr>
              <a:solidFill>
                <a:srgbClr val="0070C0"/>
              </a:solidFill>
            </a:endParaRPr>
          </a:p>
        </p:txBody>
      </p:sp>
      <p:pic>
        <p:nvPicPr>
          <p:cNvPr id="1268436596" name="Elemento grafico 1268436595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78818" y="1840019"/>
            <a:ext cx="12001499" cy="32853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396277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Separazione modello-vista</a:t>
            </a:r>
            <a:endParaRPr/>
          </a:p>
        </p:txBody>
      </p:sp>
      <p:sp>
        <p:nvSpPr>
          <p:cNvPr id="1325949513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dirty="0"/>
              <a:t>La separazione avviene seguendo il pattern MVC:</a:t>
            </a:r>
          </a:p>
          <a:p>
            <a:pPr>
              <a:defRPr/>
            </a:pPr>
            <a:r>
              <a:rPr lang="en" dirty="0"/>
              <a:t>la </a:t>
            </a:r>
            <a:r>
              <a:rPr lang="en" b="1" dirty="0"/>
              <a:t>View</a:t>
            </a:r>
            <a:r>
              <a:rPr lang="en" dirty="0"/>
              <a:t> é contenuta esclusivamente nei template HTML in Thymeleaf</a:t>
            </a:r>
          </a:p>
          <a:p>
            <a:pPr>
              <a:defRPr/>
            </a:pPr>
            <a:r>
              <a:rPr lang="en" dirty="0"/>
              <a:t>I </a:t>
            </a:r>
            <a:r>
              <a:rPr lang="en" b="1" dirty="0"/>
              <a:t>Controller</a:t>
            </a:r>
            <a:r>
              <a:rPr lang="en" dirty="0"/>
              <a:t> sono di due tipi:</a:t>
            </a:r>
          </a:p>
          <a:p>
            <a:pPr lvl="1">
              <a:defRPr/>
            </a:pPr>
            <a:r>
              <a:rPr lang="en" dirty="0"/>
              <a:t>REST controller utilizzati per fornire le API per recuperare/inviare dati</a:t>
            </a:r>
          </a:p>
          <a:p>
            <a:pPr lvl="1">
              <a:defRPr/>
            </a:pPr>
            <a:r>
              <a:rPr lang="en" dirty="0"/>
              <a:t>View controller utilizzati per inviare i template di Thymeleaf all’utente</a:t>
            </a:r>
          </a:p>
          <a:p>
            <a:pPr lvl="0">
              <a:defRPr/>
            </a:pPr>
            <a:r>
              <a:rPr lang="en" dirty="0"/>
              <a:t>Il </a:t>
            </a:r>
            <a:r>
              <a:rPr lang="en" b="1" dirty="0"/>
              <a:t>Model </a:t>
            </a:r>
            <a:r>
              <a:rPr lang="en" dirty="0"/>
              <a:t>consiste nei service che svolgono la logica di business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00336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Esempio con SSD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583511586" name="Segnaposto contenuto 2"/>
          <p:cNvSpPr>
            <a:spLocks noGrp="1"/>
          </p:cNvSpPr>
          <p:nvPr>
            <p:ph idx="1"/>
          </p:nvPr>
        </p:nvSpPr>
        <p:spPr bwMode="auto">
          <a:xfrm>
            <a:off x="6622472" y="698139"/>
            <a:ext cx="4808413" cy="659534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87500" lnSpcReduction="1000"/>
          </a:bodyPr>
          <a:lstStyle/>
          <a:p>
            <a:pPr marL="0" indent="0" algn="ctr">
              <a:buFont typeface="Arial"/>
              <a:buNone/>
              <a:defRPr/>
            </a:pPr>
            <a:r>
              <a:rPr lang="en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Disponibilitá dei volontari</a:t>
            </a:r>
            <a:endParaRPr b="1">
              <a:solidFill>
                <a:srgbClr val="0070C0"/>
              </a:solidFill>
              <a:latin typeface="DejaVu Sans Condensed"/>
              <a:cs typeface="DejaVu Sans Condensed"/>
            </a:endParaRPr>
          </a:p>
        </p:txBody>
      </p:sp>
      <p:pic>
        <p:nvPicPr>
          <p:cNvPr id="1322616823" name="Elemento grafico 132261682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381886" y="1495497"/>
            <a:ext cx="11542568" cy="51357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949901" name="Titolo 1"/>
          <p:cNvSpPr>
            <a:spLocks noGrp="1"/>
          </p:cNvSpPr>
          <p:nvPr>
            <p:ph type="title"/>
          </p:nvPr>
        </p:nvSpPr>
        <p:spPr bwMode="auto">
          <a:xfrm>
            <a:off x="838198" y="19367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1 – information expert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2040059782" name="CasellaDiTesto 2040059781"/>
          <p:cNvSpPr txBox="1"/>
          <p:nvPr/>
        </p:nvSpPr>
        <p:spPr bwMode="auto">
          <a:xfrm>
            <a:off x="351446" y="1731960"/>
            <a:ext cx="11608529" cy="2966174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// VisitPlanService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private List&lt;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initMonthAvailabilities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(List&lt;User&gt;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,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int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,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int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 {</a:t>
            </a: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monthAvailabilities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= new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ArrayList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&lt;&gt;();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for (User v :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 {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per ogni volontario recupera le sue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disponibilitá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e seleziona quelle del mese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selezionato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List&lt;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volunteerAvailabilities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= new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ArrayList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&lt;&gt;();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volunteerAvailabilityRepository.findByVolunteerId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v.getId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())</a:t>
            </a: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  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.stream()</a:t>
            </a: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  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.filter(va -&gt;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va.getAvailableDate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getMonthValue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 ==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&amp;&amp;</a:t>
            </a: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							</a:t>
            </a: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va.getAvailableDate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getYear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 ==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</a:t>
            </a: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forEach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volunteerAvailabilities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::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add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);</a:t>
            </a:r>
            <a:endParaRPr dirty="0"/>
          </a:p>
        </p:txBody>
      </p:sp>
      <p:sp>
        <p:nvSpPr>
          <p:cNvPr id="69616992" name="CasellaDiTesto 69616991"/>
          <p:cNvSpPr txBox="1"/>
          <p:nvPr/>
        </p:nvSpPr>
        <p:spPr bwMode="auto">
          <a:xfrm>
            <a:off x="351446" y="4751092"/>
            <a:ext cx="11855593" cy="115416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dirty="0"/>
              <a:t>Nella classe VisitPlanService il metodo initMonthAvailabilities chiamava diverse repository per selezionare più dati, che andava poi a gestire e associare per recuperare informazioni su dati del database.</a:t>
            </a:r>
          </a:p>
          <a:p>
            <a:pPr>
              <a:defRPr/>
            </a:pPr>
            <a:r>
              <a:rPr lang="en" dirty="0"/>
              <a:t>Si é deciso di spostare questo compito alla classe jpaVolunteerRepositoryAdapter visto che fornisce giá funzioni di base per la lettura/scrittura dati da DB.</a:t>
            </a:r>
            <a:endParaRPr dirty="0"/>
          </a:p>
        </p:txBody>
      </p:sp>
      <p:sp>
        <p:nvSpPr>
          <p:cNvPr id="1746594648" name="CasellaDiTesto 1746594647"/>
          <p:cNvSpPr txBox="1"/>
          <p:nvPr/>
        </p:nvSpPr>
        <p:spPr bwMode="auto">
          <a:xfrm>
            <a:off x="9869850" y="948644"/>
            <a:ext cx="199487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0747012" name="Titolo 1"/>
          <p:cNvSpPr>
            <a:spLocks noGrp="1"/>
          </p:cNvSpPr>
          <p:nvPr>
            <p:ph type="title"/>
          </p:nvPr>
        </p:nvSpPr>
        <p:spPr bwMode="auto">
          <a:xfrm>
            <a:off x="838197" y="317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1 – information expert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847448281" name="CasellaDiTesto 847448280"/>
          <p:cNvSpPr txBox="1"/>
          <p:nvPr/>
        </p:nvSpPr>
        <p:spPr bwMode="auto">
          <a:xfrm>
            <a:off x="351446" y="2981850"/>
            <a:ext cx="11782816" cy="1861881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// adapters.jpa.adapter.jpaVolunteerAvailableDateRepositoryAdapter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public List&lt;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findByYearMonth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 {</a:t>
            </a: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return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repository.findAll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.stream()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.filter(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entity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-&gt;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entity.getId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getAvailableDate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getMonth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 ==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yearMonth.getMonth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())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map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this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::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toDomain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collect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Collectors.toList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());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 dirty="0"/>
          </a:p>
        </p:txBody>
      </p:sp>
      <p:sp>
        <p:nvSpPr>
          <p:cNvPr id="1863624069" name="CasellaDiTesto 1863624068"/>
          <p:cNvSpPr txBox="1"/>
          <p:nvPr/>
        </p:nvSpPr>
        <p:spPr bwMode="auto">
          <a:xfrm>
            <a:off x="351446" y="4956249"/>
            <a:ext cx="11808375" cy="1448139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//VisitPlanService.createVisitPlan()</a:t>
            </a: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nextMonth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=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YearMonth.from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LocalDate.now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(clock)).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plusMonths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(1);</a:t>
            </a:r>
          </a:p>
          <a:p>
            <a:pPr>
              <a:defRPr/>
            </a:pP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List&lt;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volunteerAvailabilitiesNextMonth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=</a:t>
            </a: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volunteerAvailabilityRepository.findByYearMonth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nextMonth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);</a:t>
            </a:r>
            <a:endParaRPr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dirty="0">
                <a:latin typeface="Liberation Mono"/>
                <a:ea typeface="Liberation Mono"/>
                <a:cs typeface="Liberation Mono"/>
              </a:rPr>
              <a:t>...</a:t>
            </a:r>
            <a:endParaRPr dirty="0"/>
          </a:p>
        </p:txBody>
      </p:sp>
      <p:sp>
        <p:nvSpPr>
          <p:cNvPr id="1078290012" name="CasellaDiTesto 1078290011"/>
          <p:cNvSpPr txBox="1"/>
          <p:nvPr/>
        </p:nvSpPr>
        <p:spPr bwMode="auto">
          <a:xfrm>
            <a:off x="351446" y="967568"/>
            <a:ext cx="11811975" cy="1956535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dirty="0">
                <a:latin typeface="Liberation Mono"/>
                <a:ea typeface="Liberation Mono"/>
                <a:cs typeface="Liberation Mono"/>
              </a:rPr>
              <a:t>// application.port.out.VolunteerAvailableDateRepositoryPort</a:t>
            </a:r>
            <a:endParaRPr sz="1400" dirty="0"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public interface VolunteerAvailableDateRepositoryPort {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void save(VolunteerAvailableDate availableDate);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void delete(VolunteerAvailableDate availableDate);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boolean exists(int volunteerId, LocalDate date);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List&lt;VolunteerAvailableDate&gt; findByVolunteerId(int volunteerId);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List&lt;VolunteerAvailableDate&gt; findByDate(LocalDate date);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</a:t>
            </a:r>
            <a:r>
              <a:rPr lang="en" sz="1300" b="1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List&lt;VolunteerAvailableDate&gt; findByYearMonth(YearMonth yearMonth);</a:t>
            </a:r>
            <a:endParaRPr sz="1300" b="1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}</a:t>
            </a:r>
            <a:endParaRPr dirty="0"/>
          </a:p>
        </p:txBody>
      </p:sp>
      <p:sp>
        <p:nvSpPr>
          <p:cNvPr id="1145214106" name="CasellaDiTesto 1145214105"/>
          <p:cNvSpPr txBox="1"/>
          <p:nvPr/>
        </p:nvSpPr>
        <p:spPr bwMode="auto">
          <a:xfrm>
            <a:off x="9974624" y="309823"/>
            <a:ext cx="199811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6638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dirty="0"/>
          </a:p>
        </p:txBody>
      </p:sp>
      <p:sp>
        <p:nvSpPr>
          <p:cNvPr id="783455782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it-IT" noProof="0" dirty="0"/>
              <a:t>Il </a:t>
            </a:r>
            <a:r>
              <a:rPr lang="it-IT" noProof="0" dirty="0" err="1"/>
              <a:t>layer</a:t>
            </a:r>
            <a:r>
              <a:rPr lang="it-IT" noProof="0" dirty="0"/>
              <a:t> di </a:t>
            </a:r>
            <a:r>
              <a:rPr lang="it-IT" noProof="0" dirty="0" err="1"/>
              <a:t>Rest</a:t>
            </a:r>
            <a:r>
              <a:rPr lang="it-IT" noProof="0" dirty="0"/>
              <a:t> Controller riceve dalla </a:t>
            </a:r>
            <a:r>
              <a:rPr lang="it-IT" noProof="0" dirty="0" err="1"/>
              <a:t>View</a:t>
            </a:r>
            <a:r>
              <a:rPr lang="it-IT" noProof="0" dirty="0"/>
              <a:t> chiamate di API che lui definisce. Una volta che riceve la chiamata, il </a:t>
            </a:r>
            <a:r>
              <a:rPr lang="it-IT" noProof="0" dirty="0" err="1"/>
              <a:t>Rest</a:t>
            </a:r>
            <a:r>
              <a:rPr lang="it-IT" noProof="0" dirty="0"/>
              <a:t> controller delega lo svolgimento della operazione al </a:t>
            </a:r>
            <a:r>
              <a:rPr lang="it-IT" noProof="0" dirty="0" err="1"/>
              <a:t>layer</a:t>
            </a:r>
            <a:r>
              <a:rPr lang="it-IT" noProof="0" dirty="0"/>
              <a:t> dei Service, che si occupano di recuperare a loro volta i dati necessari dal DB e applicare la logica di business, che viene poi ritornata al controller. </a:t>
            </a:r>
            <a:r>
              <a:rPr lang="it-IT" dirty="0"/>
              <a:t>Viene poi fornita la risposta ricevuta all’utente che ha effettuato la richiesta.</a:t>
            </a:r>
          </a:p>
          <a:p>
            <a:pPr marL="0" indent="0">
              <a:buFont typeface="Arial"/>
              <a:buNone/>
              <a:defRPr/>
            </a:pPr>
            <a:endParaRPr lang="it-IT" noProof="0" dirty="0"/>
          </a:p>
          <a:p>
            <a:pPr marL="0" indent="0">
              <a:buFont typeface="Arial"/>
              <a:buNone/>
              <a:defRPr/>
            </a:pPr>
            <a:endParaRPr lang="it-IT" dirty="0"/>
          </a:p>
          <a:p>
            <a:pPr marL="0" indent="0">
              <a:buFont typeface="Arial"/>
              <a:buNone/>
              <a:defRPr/>
            </a:pPr>
            <a:endParaRPr lang="it-IT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B6A9EC-0653-BF20-87C5-5B4516EC5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B61C465-83C7-EE10-10BA-E96D69FF6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Esempio</a:t>
            </a:r>
            <a:r>
              <a:rPr lang="en-GB" dirty="0"/>
              <a:t> </a:t>
            </a:r>
            <a:r>
              <a:rPr lang="en-GB" dirty="0" err="1"/>
              <a:t>chiamata</a:t>
            </a:r>
            <a:r>
              <a:rPr lang="en-GB" dirty="0"/>
              <a:t> GET da </a:t>
            </a:r>
            <a:r>
              <a:rPr lang="en-GB" dirty="0" err="1"/>
              <a:t>BookingController</a:t>
            </a:r>
            <a:endParaRPr lang="en-GB" dirty="0"/>
          </a:p>
          <a:p>
            <a:pPr marL="0" indent="0">
              <a:buNone/>
            </a:pPr>
            <a:br>
              <a:rPr lang="en-GB" dirty="0"/>
            </a:br>
            <a:endParaRPr lang="it-IT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67A9A17E-3C15-73F6-C3BA-7CFFC5415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43739"/>
            <a:ext cx="10536120" cy="311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049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3ACE7-B743-0131-74F9-CED3AD0B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CFB85B-6420-798F-B1F8-91A8584CA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162E61-7133-90D8-8027-16D47E1B4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Esempio</a:t>
            </a:r>
            <a:r>
              <a:rPr lang="en-GB" dirty="0"/>
              <a:t> </a:t>
            </a:r>
            <a:r>
              <a:rPr lang="en-GB" dirty="0" err="1"/>
              <a:t>chiamata</a:t>
            </a:r>
            <a:r>
              <a:rPr lang="en-GB" dirty="0"/>
              <a:t> POST da </a:t>
            </a:r>
            <a:r>
              <a:rPr lang="en-GB" dirty="0" err="1"/>
              <a:t>BookingController</a:t>
            </a:r>
            <a:endParaRPr lang="en-GB" dirty="0"/>
          </a:p>
          <a:p>
            <a:pPr marL="0" indent="0">
              <a:buNone/>
            </a:pPr>
            <a:br>
              <a:rPr lang="en-GB" dirty="0"/>
            </a:b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F425A12-B226-9F04-DF5E-6760C478F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782" y="2709240"/>
            <a:ext cx="10288436" cy="232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4148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546751" name="Titolo 1"/>
          <p:cNvSpPr>
            <a:spLocks noGrp="1"/>
          </p:cNvSpPr>
          <p:nvPr>
            <p:ph type="title"/>
          </p:nvPr>
        </p:nvSpPr>
        <p:spPr bwMode="auto">
          <a:xfrm>
            <a:off x="838199" y="19194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SOLID 1 – dependency inversion</a:t>
            </a:r>
            <a:endParaRPr/>
          </a:p>
        </p:txBody>
      </p:sp>
      <p:pic>
        <p:nvPicPr>
          <p:cNvPr id="782234069" name="Elemento grafico 78223406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1186295" y="1260272"/>
            <a:ext cx="4071545" cy="5438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057745" name="Titolo 1"/>
          <p:cNvSpPr>
            <a:spLocks noGrp="1"/>
          </p:cNvSpPr>
          <p:nvPr>
            <p:ph type="title"/>
          </p:nvPr>
        </p:nvSpPr>
        <p:spPr bwMode="auto">
          <a:xfrm>
            <a:off x="838198" y="88899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SOLID 2 – Interface segregation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317562871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172214"/>
            <a:ext cx="10515600" cy="4351338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sz="2400" dirty="0"/>
              <a:t>Riorganizzazione delle interfacce UseCase, implementate nei Service.</a:t>
            </a:r>
          </a:p>
          <a:p>
            <a:pPr marL="0" indent="0">
              <a:buFont typeface="Arial"/>
              <a:buNone/>
              <a:defRPr/>
            </a:pPr>
            <a:r>
              <a:rPr lang="en" sz="2400" dirty="0"/>
              <a:t>Le interfacce contenevano troppe funzioni, di conseguenza sono state scorporate in interfacce piú piccole che svolgono compiti precisi</a:t>
            </a:r>
            <a:endParaRPr dirty="0"/>
          </a:p>
        </p:txBody>
      </p:sp>
      <p:pic>
        <p:nvPicPr>
          <p:cNvPr id="337026905" name="Immagine 33702690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2538225"/>
            <a:ext cx="2983274" cy="4157848"/>
          </a:xfrm>
          <a:prstGeom prst="rect">
            <a:avLst/>
          </a:prstGeom>
        </p:spPr>
      </p:pic>
      <p:pic>
        <p:nvPicPr>
          <p:cNvPr id="1064753335" name="Immagine 1064753334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6638924" y="2373658"/>
            <a:ext cx="2802299" cy="4322415"/>
          </a:xfrm>
          <a:prstGeom prst="rect">
            <a:avLst/>
          </a:prstGeom>
        </p:spPr>
      </p:pic>
      <p:sp>
        <p:nvSpPr>
          <p:cNvPr id="1327605616" name="Freccia a destra 1327605615"/>
          <p:cNvSpPr/>
          <p:nvPr/>
        </p:nvSpPr>
        <p:spPr bwMode="auto">
          <a:xfrm>
            <a:off x="4431074" y="3758024"/>
            <a:ext cx="1819274" cy="12572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2D050"/>
          </a:solidFill>
          <a:ln w="127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275152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GoF 1 – Strategy</a:t>
            </a:r>
            <a:endParaRPr dirty="0"/>
          </a:p>
        </p:txBody>
      </p:sp>
      <p:sp>
        <p:nvSpPr>
          <p:cNvPr id="1034785210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-GB" dirty="0"/>
              <a:t>TODO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22F803-BA15-8AD1-688E-015568313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GoF 2 – Adapter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4326178-2684-9E2D-E183-8E47E322C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Il pattern Adapter è stato applicato alle Repository JPA fornite da Spring Data per introdurre un’interfaccia stabile (rappresentata da </a:t>
            </a:r>
            <a:r>
              <a:rPr lang="it-IT" dirty="0" err="1"/>
              <a:t>RepositoryPort</a:t>
            </a:r>
            <a:r>
              <a:rPr lang="it-IT" dirty="0"/>
              <a:t>) che permette ai Service di interagire con il livello di persistenza in modo naturale e indipendente dai dettagli di implementazione.</a:t>
            </a:r>
          </a:p>
          <a:p>
            <a:pPr marL="0" indent="0">
              <a:buNone/>
            </a:pPr>
            <a:r>
              <a:rPr lang="it-IT" dirty="0"/>
              <a:t>L’Adapter ha il compito di trasformare i dati tra il modello di dominio e le </a:t>
            </a:r>
            <a:r>
              <a:rPr lang="it-IT" dirty="0" err="1"/>
              <a:t>Entity</a:t>
            </a:r>
            <a:r>
              <a:rPr lang="it-IT" dirty="0"/>
              <a:t> del database. In lettura, converte le </a:t>
            </a:r>
            <a:r>
              <a:rPr lang="it-IT" dirty="0" err="1"/>
              <a:t>Entity</a:t>
            </a:r>
            <a:r>
              <a:rPr lang="it-IT" dirty="0"/>
              <a:t> in oggetti di dominio, rendendo i dati utilizzabili dai Service. In scrittura, effettua la conversione inversa.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37302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8C226-010D-E665-C445-E05414218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1CF207D-83F7-A124-F78F-528CBB5E4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7294" y="5242952"/>
            <a:ext cx="1668283" cy="519541"/>
          </a:xfrm>
        </p:spPr>
        <p:txBody>
          <a:bodyPr/>
          <a:lstStyle/>
          <a:p>
            <a:pPr marL="0" indent="0">
              <a:buNone/>
            </a:pPr>
            <a:r>
              <a:rPr lang="en-GB" dirty="0" err="1"/>
              <a:t>Adaptee</a:t>
            </a:r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2A045DF-D4D4-0852-A9EC-5ACC91AF7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636" y="4884445"/>
            <a:ext cx="6626325" cy="1637713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DC2B46C-63CB-579B-C388-8DA4AAE1A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1436" y="2745617"/>
            <a:ext cx="3782338" cy="1637713"/>
          </a:xfrm>
          <a:prstGeom prst="rect">
            <a:avLst/>
          </a:prstGeom>
        </p:spPr>
      </p:pic>
      <p:sp>
        <p:nvSpPr>
          <p:cNvPr id="12" name="Segnaposto contenuto 2">
            <a:extLst>
              <a:ext uri="{FF2B5EF4-FFF2-40B4-BE49-F238E27FC236}">
                <a16:creationId xmlns:a16="http://schemas.microsoft.com/office/drawing/2014/main" id="{47E65938-AA23-82E3-83AF-45B3C939587B}"/>
              </a:ext>
            </a:extLst>
          </p:cNvPr>
          <p:cNvSpPr txBox="1">
            <a:spLocks/>
          </p:cNvSpPr>
          <p:nvPr/>
        </p:nvSpPr>
        <p:spPr bwMode="auto">
          <a:xfrm>
            <a:off x="1523599" y="3169229"/>
            <a:ext cx="1585145" cy="519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dirty="0"/>
              <a:t>Adapter</a:t>
            </a:r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222C07A4-4C4B-1C8E-187D-184D4F204641}"/>
              </a:ext>
            </a:extLst>
          </p:cNvPr>
          <p:cNvCxnSpPr>
            <a:cxnSpLocks/>
          </p:cNvCxnSpPr>
          <p:nvPr/>
        </p:nvCxnSpPr>
        <p:spPr>
          <a:xfrm>
            <a:off x="5670596" y="4369409"/>
            <a:ext cx="184195" cy="515036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5BF79AA0-5CC8-D320-CC96-53BC434B11C4}"/>
              </a:ext>
            </a:extLst>
          </p:cNvPr>
          <p:cNvSpPr txBox="1">
            <a:spLocks/>
          </p:cNvSpPr>
          <p:nvPr/>
        </p:nvSpPr>
        <p:spPr bwMode="auto">
          <a:xfrm>
            <a:off x="542764" y="1071746"/>
            <a:ext cx="1585145" cy="519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dirty="0"/>
              <a:t>Target</a:t>
            </a: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6F1DCB05-E89B-8DAA-26F3-959AF6190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561" y="1065884"/>
            <a:ext cx="6187210" cy="1243723"/>
          </a:xfrm>
          <a:prstGeom prst="rect">
            <a:avLst/>
          </a:prstGeom>
        </p:spPr>
      </p:pic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671CBAA7-42EE-2AFD-934D-4E1E23D5FEE2}"/>
              </a:ext>
            </a:extLst>
          </p:cNvPr>
          <p:cNvCxnSpPr>
            <a:cxnSpLocks/>
            <a:stCxn id="17" idx="2"/>
            <a:endCxn id="7" idx="0"/>
          </p:cNvCxnSpPr>
          <p:nvPr/>
        </p:nvCxnSpPr>
        <p:spPr>
          <a:xfrm>
            <a:off x="4929166" y="2309607"/>
            <a:ext cx="113439" cy="43601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050" name="Picture 2" descr="PlantUML diagram">
            <a:extLst>
              <a:ext uri="{FF2B5EF4-FFF2-40B4-BE49-F238E27FC236}">
                <a16:creationId xmlns:a16="http://schemas.microsoft.com/office/drawing/2014/main" id="{DF86E73B-ED4F-3267-C421-684BE33892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3539" y="816409"/>
            <a:ext cx="2657475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43125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030970" name="Titolo 1"/>
          <p:cNvSpPr>
            <a:spLocks noGrp="1"/>
          </p:cNvSpPr>
          <p:nvPr>
            <p:ph type="title"/>
          </p:nvPr>
        </p:nvSpPr>
        <p:spPr bwMode="auto">
          <a:xfrm>
            <a:off x="838198" y="88898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createVisitPlan()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374860491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253329"/>
            <a:ext cx="10515600" cy="4351338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/>
              <a:t>Data l’esigenza di eseguire piú refactoring sul metodo createVisitPlan() in VisitPlanService (vedi a slide NN ), prima di operare é stato necessario definire diversi casi di test in modo da verificare che l’algoritmo si comportasse sempre alla stessa maniera.</a:t>
            </a:r>
          </a:p>
          <a:p>
            <a:pPr marL="0" indent="0">
              <a:buFont typeface="Arial"/>
              <a:buNone/>
              <a:defRPr/>
            </a:pPr>
            <a:r>
              <a:rPr lang="en"/>
              <a:t>Di seguito il grafo che descrive il funzionamento generale dell’algoritmo con i casi di test individuati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9347402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createVisitPlan()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pic>
        <p:nvPicPr>
          <p:cNvPr id="505329485" name="Elemento grafico 505329484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401695" y="997479"/>
            <a:ext cx="4076826" cy="5554842"/>
          </a:xfrm>
          <a:prstGeom prst="rect">
            <a:avLst/>
          </a:prstGeom>
        </p:spPr>
      </p:pic>
      <p:sp>
        <p:nvSpPr>
          <p:cNvPr id="574398209" name="CasellaDiTesto 574398208"/>
          <p:cNvSpPr txBox="1"/>
          <p:nvPr/>
        </p:nvSpPr>
        <p:spPr bwMode="auto">
          <a:xfrm>
            <a:off x="4793024" y="1338258"/>
            <a:ext cx="6946457" cy="547449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 nextMonth = YearMonth.from(LocalDate.now(clock)).plusMonths(1);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List&lt;VolunteerAvailableDate&gt; volunteerAvailabilitiesNextMonth = volunteerAvailabilityRepository.findByYearMonth(nextMonth);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List&lt;Visit&gt; nextMonthSortedVisits = getNextMonthVisitsSorted(nextMonth.getMonthValue(), nextMonth.getYear());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List&lt;VolunteerIdWithVisitCount&gt; volunteerIdWithVisitCounts = initializeVolunteerWithVisitCount();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for (Visit visit : nextMonthSortedVisits) {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List&lt;Integer&gt; availableVolunteerIds = getAvailableVolunteersForVisitDate(visit, volunteerAvailabilitiesNextMonth);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if (availableVolunteerIds.isEmpty()) {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setVisitStatusToCancelled(visit);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 else if (availableVolunteerIds.size() == 1) {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assignAvailableVolunteerToVisitIfPossible(visit, availableVolunteerIds, volunteerAvailabilitiesNextMonth, volunteerIdWithVisitCounts);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 else {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assignBestVolunteerAvailableToVisit(visit, availableVolunteerIds, volunteerIdWithVisitCounts, volunteerAvailabilitiesNextMonth);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}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removeBlockedDatesFromSelectedMonth(nextMonth);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statePort.setVisitPlanCreated(nextMonth.getMonthValue(), nextMonth.getYear(), true);</a:t>
            </a:r>
            <a:endParaRPr/>
          </a:p>
        </p:txBody>
      </p:sp>
      <p:sp>
        <p:nvSpPr>
          <p:cNvPr id="1564850453" name="CasellaDiTesto 1564850452"/>
          <p:cNvSpPr txBox="1"/>
          <p:nvPr/>
        </p:nvSpPr>
        <p:spPr bwMode="auto">
          <a:xfrm>
            <a:off x="5024045" y="922568"/>
            <a:ext cx="5872644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/>
              <a:t>createVisitPlan()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1702473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createVisitPlan()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148164113" name="CasellaDiTesto 1148164112"/>
          <p:cNvSpPr txBox="1"/>
          <p:nvPr/>
        </p:nvSpPr>
        <p:spPr bwMode="auto">
          <a:xfrm>
            <a:off x="4793024" y="1856842"/>
            <a:ext cx="6948977" cy="4449081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@Test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void createVisitPlan_NoVolunteersAvailable_ShouldCancelVisit() {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User user = new User(1, "", "", Role.VOLUNTEER, false);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when(userInfoUseCase.getUsersByRole(Role.VOLUNTEER)).thenReturn(List.of(user));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when(volunteerAvailabilityRepository.findByVolunteerId(1)).thenReturn(List.of());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VisitType visitTypeMock = mock(VisitType.class);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 visit = new Visit(LocalDate.of(2025, 10, 5), user, //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visitTypeMock, List.of(), VisitStatus.PROPOSED);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when(visitRepository.findAll()).thenReturn(Set.of(visit));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service.createVisitPlan();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assertEquals(VisitStatus.CANCELLED, visit.getVisitStatus());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verify(visitRepository).save(visit);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verify(statePort).setVisitPlanCreated(10, 2025, true);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 sz="1200">
              <a:latin typeface="Liberation Mono"/>
              <a:cs typeface="Liberation Mono"/>
            </a:endParaRPr>
          </a:p>
        </p:txBody>
      </p:sp>
      <p:sp>
        <p:nvSpPr>
          <p:cNvPr id="913019273" name="CasellaDiTesto 913019272"/>
          <p:cNvSpPr txBox="1"/>
          <p:nvPr/>
        </p:nvSpPr>
        <p:spPr bwMode="auto">
          <a:xfrm>
            <a:off x="5216798" y="1304744"/>
            <a:ext cx="610106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Nessuna disponibilitá - visita cancellata</a:t>
            </a:r>
            <a:endParaRPr/>
          </a:p>
        </p:txBody>
      </p:sp>
      <p:pic>
        <p:nvPicPr>
          <p:cNvPr id="895613081" name="Immagine 89561308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55297" y="1121684"/>
            <a:ext cx="3831803" cy="5575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938630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createVisitPlan()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506825330" name="CasellaDiTesto 506825329"/>
          <p:cNvSpPr txBox="1"/>
          <p:nvPr/>
        </p:nvSpPr>
        <p:spPr bwMode="auto">
          <a:xfrm>
            <a:off x="4793024" y="1487804"/>
            <a:ext cx="6953297" cy="4985452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@Test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void createVisitPlan_OneVolunteerAvailableAndCanDoVisit_ShouldAssignVisit() {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User volunteer = new User(1, "volunteer", "test", Role.VOLUNTEER, false);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when(userInfoUseCase.getUsersIdsByRole(Role.VOLUNTEER)).thenReturn(List.of(volunteer.getId()));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when(userInfoUseCase.findById(1)).thenReturn(Optional.of(volunteer));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LocalDate date = LocalDate.of(2025, 10, 10);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 availableDate = new VolunteerAvailableDate(1, date);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VisitType visitTypeMock = mock(VisitType.class);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 visit = new Visit(date, null, visitTypeMock, List.of(), VisitStatus.PROPOSED);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when(visitRepository.findAll()).thenReturn(Set.of(visit));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when(visitTypeRepository.findByVolunteerId(1)).thenReturn(Set.of(visitTypeMock));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List&lt;VolunteerAvailableDate&gt; volunteerAvailableDates = new ArrayList&lt;&gt;();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volunteerAvailableDates.add(availableDate);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when(volunteerAvailabilityRepository.findByYearMonth(YearMonth.of(2025, 10))).thenReturn(volunteerAvailableDates);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service.createVisitPlan();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assertEquals(VisitStatus.PROPOSED, visit.getVisitStatus());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assertEquals(1, visit.getVolunteer().getId());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verify(visitRepository).save(visit);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verify(statePort).setVisitPlanCreated(10, 2025, true);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 sz="1000">
              <a:latin typeface="Liberation Mono"/>
              <a:cs typeface="Liberation Mono"/>
            </a:endParaRPr>
          </a:p>
        </p:txBody>
      </p:sp>
      <p:sp>
        <p:nvSpPr>
          <p:cNvPr id="1366006912" name="CasellaDiTesto 1366006911"/>
          <p:cNvSpPr txBox="1"/>
          <p:nvPr/>
        </p:nvSpPr>
        <p:spPr bwMode="auto">
          <a:xfrm>
            <a:off x="5230047" y="938624"/>
            <a:ext cx="612374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Singola disponibilitá - visita confermata</a:t>
            </a:r>
            <a:endParaRPr/>
          </a:p>
        </p:txBody>
      </p:sp>
      <p:pic>
        <p:nvPicPr>
          <p:cNvPr id="266060674" name="Immagine 26606067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88999" y="1005647"/>
            <a:ext cx="3842318" cy="559119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211538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createVisitPlan()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564294578" name="CasellaDiTesto 564294577"/>
          <p:cNvSpPr txBox="1"/>
          <p:nvPr/>
        </p:nvSpPr>
        <p:spPr bwMode="auto">
          <a:xfrm>
            <a:off x="4793024" y="1244131"/>
            <a:ext cx="6958337" cy="591621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@Test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void createVisitPlan_MultipleVolunteersAvailable_ShouldAssignBestVolunteer() {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User volunteer1 = new User(1, "", "", Role.VOLUNTEER, false);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User volunteer2 = new User(2, "", "", Role.VOLUNTEER, false);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when(userInfoUseCase.getUsersIdsByRole(Role.VOLUNTEER)).thenReturn(List.of(volunteer1.getId(), volunteer2.getId()));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when(userInfoUseCase.findById(1)).thenReturn(Optional.of(volunteer1));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when(userInfoUseCase.findById(2)).thenReturn(Optional.of(volunteer2));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LocalDate date = LocalDate.of(2025, 10, 15);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 volunteer1AvailableDate = new VolunteerAvailableDate(1, date);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 volunteer2AvailableDate = new VolunteerAvailableDate(2, date);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when(volunteerAvailabilityRepository.findByVolunteerId(1)).thenReturn(List.of(volunteer1AvailableDate));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when(volunteerAvailabilityRepository.findByVolunteerId(2)).thenReturn(List.of(volunteer2AvailableDate));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List&lt;VolunteerAvailableDate&gt; volunteerAvailableDates = new ArrayList&lt;&gt;();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volunteerAvailableDates.add(volunteer1AvailableDate);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volunteerAvailableDates.add(volunteer2AvailableDate);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when(volunteerAvailabilityRepository.findByYearMonth(YearMonth.of(2025, 10))).thenReturn(volunteerAvailableDates);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VisitType visitTypeMock = mock(VisitType.class);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 visit = new Visit(date, null, visitTypeMock, List.of(), VisitStatus.PROPOSED);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when(visitRepository.findAll()).thenReturn(Set.of(visit));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when(visitTypeRepository.findByVolunteerId(1)).thenReturn(Set.of(visitTypeMock));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when(visitTypeRepository.findByVolunteerId(2)).thenReturn(Set.of(visitTypeMock));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service.createVisitPlan();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assertEquals(VisitStatus.PROPOSED, visit.getVisitStatus());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assertNotNull(visit.getVolunteer());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verify(visitRepository).save(visit);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verify(statePort).setVisitPlanCreated(10, 2025, true);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}</a:t>
            </a:r>
            <a:endParaRPr sz="800">
              <a:latin typeface="Liberation Mono"/>
              <a:cs typeface="Liberation Mono"/>
            </a:endParaRPr>
          </a:p>
        </p:txBody>
      </p:sp>
      <p:sp>
        <p:nvSpPr>
          <p:cNvPr id="1756827701" name="CasellaDiTesto 1756827700"/>
          <p:cNvSpPr txBox="1"/>
          <p:nvPr/>
        </p:nvSpPr>
        <p:spPr bwMode="auto">
          <a:xfrm>
            <a:off x="5230047" y="878011"/>
            <a:ext cx="615002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Piú disponibilitá - scelta del volontario migliore</a:t>
            </a:r>
            <a:endParaRPr/>
          </a:p>
        </p:txBody>
      </p:sp>
      <p:pic>
        <p:nvPicPr>
          <p:cNvPr id="317546197" name="Immagine 31754619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82334" y="1121684"/>
            <a:ext cx="3821081" cy="545024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95650" name="Titolo 1"/>
          <p:cNvSpPr>
            <a:spLocks noGrp="1"/>
          </p:cNvSpPr>
          <p:nvPr>
            <p:ph type="title"/>
          </p:nvPr>
        </p:nvSpPr>
        <p:spPr bwMode="auto">
          <a:xfrm>
            <a:off x="838198" y="365123"/>
            <a:ext cx="5555216" cy="1325561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104998061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/>
              <a:t>Il refactoring della classe VisitPlanService si é reso necessario perché:</a:t>
            </a:r>
          </a:p>
          <a:p>
            <a:pPr>
              <a:defRPr/>
            </a:pPr>
            <a:r>
              <a:rPr lang="en"/>
              <a:t>contiene l’algoritmo fondamentale per il funzionamento del programma</a:t>
            </a:r>
          </a:p>
          <a:p>
            <a:pPr>
              <a:defRPr/>
            </a:pPr>
            <a:r>
              <a:rPr lang="en"/>
              <a:t>é probabile che possa subire modifiche/aggiunte in futuro</a:t>
            </a:r>
          </a:p>
          <a:p>
            <a:pPr>
              <a:defRPr/>
            </a:pPr>
            <a:r>
              <a:rPr lang="en"/>
              <a:t>combina molte informazioni diverse: visite, tipi di visite, date non disponibili, volontari e relative disponibilitá</a:t>
            </a:r>
          </a:p>
          <a:p>
            <a:pPr marL="0" indent="0">
              <a:buFont typeface="Arial"/>
              <a:buNone/>
              <a:defRPr/>
            </a:pPr>
            <a:r>
              <a:rPr lang="en"/>
              <a:t>Di seguito i pattern di refactoring applicati</a:t>
            </a:r>
            <a:endParaRPr/>
          </a:p>
        </p:txBody>
      </p:sp>
      <p:sp>
        <p:nvSpPr>
          <p:cNvPr id="27321058" name="CasellaDiTesto 27321057"/>
          <p:cNvSpPr txBox="1"/>
          <p:nvPr/>
        </p:nvSpPr>
        <p:spPr bwMode="auto">
          <a:xfrm>
            <a:off x="5753406" y="844844"/>
            <a:ext cx="5851705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8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Caso di VisitPlanService</a:t>
            </a:r>
            <a:endParaRPr b="1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6002" name="Titolo 1"/>
          <p:cNvSpPr>
            <a:spLocks noGrp="1"/>
          </p:cNvSpPr>
          <p:nvPr>
            <p:ph type="title"/>
          </p:nvPr>
        </p:nvSpPr>
        <p:spPr bwMode="auto">
          <a:xfrm>
            <a:off x="839459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040471417" name="CasellaDiTesto 1040471416"/>
          <p:cNvSpPr txBox="1"/>
          <p:nvPr/>
        </p:nvSpPr>
        <p:spPr bwMode="auto">
          <a:xfrm>
            <a:off x="4915206" y="441324"/>
            <a:ext cx="5860344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8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- 1</a:t>
            </a:r>
            <a:endParaRPr b="1">
              <a:solidFill>
                <a:srgbClr val="0070C0"/>
              </a:solidFill>
            </a:endParaRPr>
          </a:p>
        </p:txBody>
      </p:sp>
      <p:sp>
        <p:nvSpPr>
          <p:cNvPr id="1689386774" name="CasellaDiTesto 1689386773"/>
          <p:cNvSpPr txBox="1"/>
          <p:nvPr/>
        </p:nvSpPr>
        <p:spPr bwMode="auto">
          <a:xfrm>
            <a:off x="457916" y="1160462"/>
            <a:ext cx="11276167" cy="252445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for (Visit visit : monthVisits)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LocalDate day = visit.getDate();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List&lt;User&gt; availableVolunteers = new ArrayList&lt;&gt;();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aggiunge alla lista availableVolunteers tutti i volontari che hanno dato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disponibilitá per il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giorno 'day'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monthAvailabilities.stream().filter(av -&gt; av.getAvailableDate().equals(day)) //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// mappa le disponibilitá VolunteerAvailableDate con gli oggetti USER volontari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.map(av -&gt; volunteerById(av.getVolunteerId(), volunteers)) //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.forEach(availableVolunteers::add);</a:t>
            </a:r>
            <a:endParaRPr/>
          </a:p>
        </p:txBody>
      </p:sp>
      <p:sp>
        <p:nvSpPr>
          <p:cNvPr id="58203512" name="CasellaDiTesto 58203511"/>
          <p:cNvSpPr txBox="1"/>
          <p:nvPr/>
        </p:nvSpPr>
        <p:spPr bwMode="auto">
          <a:xfrm>
            <a:off x="457916" y="3827462"/>
            <a:ext cx="11278686" cy="2966174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for (Visit visit : nextMonthSortedVisits)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List&lt;Integer&gt; availableVolunteerIds = 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	getAvailableVolunteersForVisitDate(visit, volunteerAvailabilitiesNextMonth);</a:t>
            </a:r>
            <a:endParaRPr sz="1400"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>
              <a:latin typeface="Liberation Mono"/>
              <a:cs typeface="Liberation Mono"/>
            </a:endParaRPr>
          </a:p>
          <a:p>
            <a:pPr>
              <a:defRPr/>
            </a:pPr>
            <a:endParaRPr sz="1400"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private List&lt;Integer&gt; getAvailableVolunteersForVisitDate(Visit visit, List&lt;VolunteerAvailableDate&gt; volunteerAvailabilitiesNextMonth)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return volunteerAvailabilitiesNextMonth.stream() //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.filter(volunteerAvailableDate -&gt; volunteerAvailableDate.getAvailableDate().equals(visit.getDate())) //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.map(VolunteerAvailableDate::getVolunteerId) //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.collect(Collectors.toList());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 sz="1800"/>
          </a:p>
        </p:txBody>
      </p:sp>
      <p:sp>
        <p:nvSpPr>
          <p:cNvPr id="1698375116" name="CasellaDiTesto 1698375115"/>
          <p:cNvSpPr txBox="1"/>
          <p:nvPr/>
        </p:nvSpPr>
        <p:spPr bwMode="auto">
          <a:xfrm>
            <a:off x="9679349" y="1269043"/>
            <a:ext cx="199523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482612164" name="CasellaDiTesto 1482612163"/>
          <p:cNvSpPr txBox="1"/>
          <p:nvPr/>
        </p:nvSpPr>
        <p:spPr bwMode="auto">
          <a:xfrm>
            <a:off x="9679349" y="3920157"/>
            <a:ext cx="199883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409532" name="Titolo 1"/>
          <p:cNvSpPr>
            <a:spLocks noGrp="1"/>
          </p:cNvSpPr>
          <p:nvPr>
            <p:ph type="title"/>
          </p:nvPr>
        </p:nvSpPr>
        <p:spPr bwMode="auto">
          <a:xfrm>
            <a:off x="838198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7675352" name="CasellaDiTesto 17675351"/>
          <p:cNvSpPr txBox="1"/>
          <p:nvPr/>
        </p:nvSpPr>
        <p:spPr bwMode="auto">
          <a:xfrm>
            <a:off x="4383448" y="471802"/>
            <a:ext cx="7416345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- 2 + semplificazione logica</a:t>
            </a:r>
            <a:endParaRPr sz="1400" b="1">
              <a:solidFill>
                <a:srgbClr val="0070C0"/>
              </a:solidFill>
            </a:endParaRPr>
          </a:p>
        </p:txBody>
      </p:sp>
      <p:sp>
        <p:nvSpPr>
          <p:cNvPr id="1873129134" name="CasellaDiTesto 1873129133"/>
          <p:cNvSpPr txBox="1"/>
          <p:nvPr/>
        </p:nvSpPr>
        <p:spPr bwMode="auto">
          <a:xfrm>
            <a:off x="457913" y="1160460"/>
            <a:ext cx="11635248" cy="4291325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if (availableVolunteers.isEmpty())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visit.setVisitStatus(VisitStatus.CANCELLED);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visitRepository.save(visit);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continue; // passa alla visita successiva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 else if (availableVolunteers.size() == 1)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User volunteer = availableVolunteers.getFirst();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if (canDoVisitType(volunteer, visit.getVisitType().getId()))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assignVolunteerToVisit(volunteer, visit, monthAvailabilities, volunteerVisitCounts);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else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visit.setVisitStatus(VisitStatus.CANCELLED);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visitRepository.save(visit);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}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continue; // passa alla visita successiva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piú di 2 volontari con disponibilitá nel giorno considerato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User bestVolunteer = selectBestVolunteer(availableVolunteers, volunteerVisitCounts);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assignVolunteerToVisit(bestVolunteer, visit, monthAvailabilities, volunteerVisitCounts);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}</a:t>
            </a: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/>
          </a:p>
        </p:txBody>
      </p:sp>
      <p:sp>
        <p:nvSpPr>
          <p:cNvPr id="1625665772" name="CasellaDiTesto 1625665771"/>
          <p:cNvSpPr txBox="1"/>
          <p:nvPr/>
        </p:nvSpPr>
        <p:spPr bwMode="auto">
          <a:xfrm>
            <a:off x="9679349" y="1269223"/>
            <a:ext cx="199559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34049" name="Titolo 1"/>
          <p:cNvSpPr>
            <a:spLocks noGrp="1"/>
          </p:cNvSpPr>
          <p:nvPr>
            <p:ph type="title"/>
          </p:nvPr>
        </p:nvSpPr>
        <p:spPr bwMode="auto">
          <a:xfrm>
            <a:off x="838198" y="37801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1225781845" name="CasellaDiTesto 1225781844"/>
          <p:cNvSpPr txBox="1"/>
          <p:nvPr/>
        </p:nvSpPr>
        <p:spPr bwMode="auto">
          <a:xfrm>
            <a:off x="457913" y="1160460"/>
            <a:ext cx="11637768" cy="3407891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for (Visit visit : nextMonthSortedVisits) {</a:t>
            </a: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List&lt;Integer&gt; availableVolunteerIds = getAvailableVolunteersForVisitDate(visit, volunteerAvailabilitiesNextMonth);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if (availableVolunteerIds.isEmpty())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setVisitStatusToCancelled(visit);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 else if (availableVolunteerIds.size() == 1)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assignAvailableVolunteerToVisitIfPossible(visit, availableVolunteerIds, volunteerAvailabilitiesNextMonth, volunteerIdWithVisitCounts);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 else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assignBestVolunteerAvailableToVisit(visit, availableVolunteerIds, volunteerIdWithVisitCounts, volunteerAvailabilitiesNextMonth);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}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</p:txBody>
      </p:sp>
      <p:sp>
        <p:nvSpPr>
          <p:cNvPr id="1711987548" name="CasellaDiTesto 1711987547"/>
          <p:cNvSpPr txBox="1"/>
          <p:nvPr/>
        </p:nvSpPr>
        <p:spPr bwMode="auto">
          <a:xfrm>
            <a:off x="4383448" y="471802"/>
            <a:ext cx="7416703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- 2 + semplificazione logica</a:t>
            </a:r>
            <a:endParaRPr sz="1400" b="1">
              <a:solidFill>
                <a:srgbClr val="0070C0"/>
              </a:solidFill>
            </a:endParaRPr>
          </a:p>
        </p:txBody>
      </p:sp>
      <p:sp>
        <p:nvSpPr>
          <p:cNvPr id="23320965" name="CasellaDiTesto 23320964"/>
          <p:cNvSpPr txBox="1"/>
          <p:nvPr/>
        </p:nvSpPr>
        <p:spPr bwMode="auto">
          <a:xfrm>
            <a:off x="10039335" y="1839611"/>
            <a:ext cx="199919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8862128" name="Titolo 1"/>
          <p:cNvSpPr>
            <a:spLocks noGrp="1"/>
          </p:cNvSpPr>
          <p:nvPr>
            <p:ph type="title"/>
          </p:nvPr>
        </p:nvSpPr>
        <p:spPr bwMode="auto">
          <a:xfrm>
            <a:off x="838198" y="3703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267580261" name="CasellaDiTesto 267580260"/>
          <p:cNvSpPr txBox="1"/>
          <p:nvPr/>
        </p:nvSpPr>
        <p:spPr bwMode="auto">
          <a:xfrm>
            <a:off x="5753405" y="471040"/>
            <a:ext cx="5870424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Replace temporary with invocation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437753394" name="CasellaDiTesto 1437753393"/>
          <p:cNvSpPr txBox="1"/>
          <p:nvPr/>
        </p:nvSpPr>
        <p:spPr bwMode="auto">
          <a:xfrm>
            <a:off x="351446" y="1362601"/>
            <a:ext cx="11798655" cy="164102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LocalDate today = LocalDate.now(clock);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 nextMonth = YearMonth.from(today).plusMonths(1);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int nextMonthValue = nextMonth.getMonthValue();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int nextYear = nextMonth.getYear();</a:t>
            </a:r>
            <a:endParaRPr sz="1400"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>
                <a:latin typeface="Liberation Mono"/>
                <a:ea typeface="Liberation Mono"/>
                <a:cs typeface="Liberation Mono"/>
              </a:rPr>
              <a:t>...</a:t>
            </a:r>
            <a:endParaRPr sz="1400"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removeBlockedDates(nextMonthValue, nextYear);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statePort.setVisitPlanCreated(nextMonthValue, nextYear, true);</a:t>
            </a:r>
            <a:endParaRPr/>
          </a:p>
        </p:txBody>
      </p:sp>
      <p:sp>
        <p:nvSpPr>
          <p:cNvPr id="711399983" name="CasellaDiTesto 711399982"/>
          <p:cNvSpPr txBox="1"/>
          <p:nvPr/>
        </p:nvSpPr>
        <p:spPr bwMode="auto">
          <a:xfrm>
            <a:off x="351446" y="3553351"/>
            <a:ext cx="11805134" cy="119930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LocalDate today = LocalDate.now(clock);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 nextMonth = YearMonth.from(today).plusMonths(1);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removeBlockedDatesFromSelectedMonth(nextMonth);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statePort.setVisitPlanCreated(nextMonth.getMonthValue(), nextMonth.getYear(), true);</a:t>
            </a:r>
            <a:endParaRPr/>
          </a:p>
        </p:txBody>
      </p:sp>
      <p:sp>
        <p:nvSpPr>
          <p:cNvPr id="1563974945" name="CasellaDiTesto 1563974944"/>
          <p:cNvSpPr txBox="1"/>
          <p:nvPr/>
        </p:nvSpPr>
        <p:spPr bwMode="auto">
          <a:xfrm>
            <a:off x="9679348" y="1459902"/>
            <a:ext cx="199595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990802124" name="CasellaDiTesto 1990802123"/>
          <p:cNvSpPr txBox="1"/>
          <p:nvPr/>
        </p:nvSpPr>
        <p:spPr bwMode="auto">
          <a:xfrm>
            <a:off x="9944084" y="3678115"/>
            <a:ext cx="199955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309608" name="Titolo 1"/>
          <p:cNvSpPr>
            <a:spLocks noGrp="1"/>
          </p:cNvSpPr>
          <p:nvPr>
            <p:ph type="title"/>
          </p:nvPr>
        </p:nvSpPr>
        <p:spPr bwMode="auto">
          <a:xfrm>
            <a:off x="838198" y="2966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356032845" name="CasellaDiTesto 356032844"/>
          <p:cNvSpPr txBox="1"/>
          <p:nvPr/>
        </p:nvSpPr>
        <p:spPr bwMode="auto">
          <a:xfrm>
            <a:off x="5383575" y="433185"/>
            <a:ext cx="6477589" cy="4880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6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Sostituzione di oggetti con relativi id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589703209" name="CasellaDiTesto 1589703208"/>
          <p:cNvSpPr txBox="1"/>
          <p:nvPr/>
        </p:nvSpPr>
        <p:spPr bwMode="auto">
          <a:xfrm>
            <a:off x="351447" y="1248301"/>
            <a:ext cx="11813415" cy="230359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private User selectBestVolunteer(List&lt;User&gt; volunteers, List&lt;VolunteerVisitCount&gt; volunteerVisitCounts)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Comparator&lt;User&gt; volunteerComparator =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(v1, v2) -&gt; Integer.compare(visitCountFromVolunteer(v1, volunteerVisitCounts),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    visitCountFromVolunteer(v2, volunteerVisitCounts));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return volunteers.stream().min(volunteerComparator)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.orElseThrow(() -&gt; new IllegalArgumentException("No volunteers available"));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/>
          </a:p>
        </p:txBody>
      </p:sp>
      <p:sp>
        <p:nvSpPr>
          <p:cNvPr id="1761411735" name="CasellaDiTesto 1761411734"/>
          <p:cNvSpPr txBox="1"/>
          <p:nvPr/>
        </p:nvSpPr>
        <p:spPr bwMode="auto">
          <a:xfrm>
            <a:off x="351447" y="4001026"/>
            <a:ext cx="11844014" cy="164102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private void assignBestVolunteerAvailableToVisit(Visit visit, List&lt;Integer&gt; availableVolunteerIds, List&lt;VolunteerIdWithVisitCount&gt; volunteerIdWithVisitCounts, List&lt;VolunteerAvailableDate&gt; volunteerAvailabilitiesNextMonth)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int bestVolunteerId = selectBestVolunteerId(availableVolunteerIds, volunteerIdWithVisitCounts);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assignVolunteerToVisit(bestVolunteerId, visit, volunteerAvailabilitiesNextMonth, volunteerIdWithVisitCounts);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/>
          </a:p>
        </p:txBody>
      </p:sp>
      <p:sp>
        <p:nvSpPr>
          <p:cNvPr id="1841704908" name="CasellaDiTesto 1841704907"/>
          <p:cNvSpPr txBox="1"/>
          <p:nvPr/>
        </p:nvSpPr>
        <p:spPr bwMode="auto">
          <a:xfrm>
            <a:off x="10039334" y="4944940"/>
            <a:ext cx="199955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437168857" name="CasellaDiTesto 1437168856"/>
          <p:cNvSpPr txBox="1"/>
          <p:nvPr/>
        </p:nvSpPr>
        <p:spPr bwMode="auto">
          <a:xfrm>
            <a:off x="10107973" y="2174456"/>
            <a:ext cx="199631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130</TotalTime>
  <Words>2542</Words>
  <Application>Microsoft Office PowerPoint</Application>
  <PresentationFormat>Widescreen</PresentationFormat>
  <Paragraphs>328</Paragraphs>
  <Slides>26</Slides>
  <Notes>22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8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26</vt:i4>
      </vt:variant>
    </vt:vector>
  </HeadingPairs>
  <TitlesOfParts>
    <vt:vector size="35" baseType="lpstr">
      <vt:lpstr>Arial</vt:lpstr>
      <vt:lpstr>Cantarell</vt:lpstr>
      <vt:lpstr>Cantarell Extra Bold</vt:lpstr>
      <vt:lpstr>DejaVu Sans Condensed</vt:lpstr>
      <vt:lpstr>Liberation Mono</vt:lpstr>
      <vt:lpstr>NimbusSanL</vt:lpstr>
      <vt:lpstr>Noto Sans</vt:lpstr>
      <vt:lpstr>Open Sans</vt:lpstr>
      <vt:lpstr>Office Theme</vt:lpstr>
      <vt:lpstr>Centro Visite</vt:lpstr>
      <vt:lpstr>Indice dei contenuti</vt:lpstr>
      <vt:lpstr>Diagramma dei package</vt:lpstr>
      <vt:lpstr>Separazione modello-vista</vt:lpstr>
      <vt:lpstr>Esempio con SSD</vt:lpstr>
      <vt:lpstr>GRASP 1 – information expert</vt:lpstr>
      <vt:lpstr>GRASP 1 – information expert</vt:lpstr>
      <vt:lpstr>GRASP 2 - Controller</vt:lpstr>
      <vt:lpstr>GRASP 2 - Controller</vt:lpstr>
      <vt:lpstr>GRASP 2 - Controller</vt:lpstr>
      <vt:lpstr>SOLID 1 – dependency inversion</vt:lpstr>
      <vt:lpstr>SOLID 2 – Interface segregation</vt:lpstr>
      <vt:lpstr>GoF 1 – Strategy</vt:lpstr>
      <vt:lpstr>GoF 2 – Adapter</vt:lpstr>
      <vt:lpstr>Presentazione standard di PowerPoint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Refactoring</vt:lpstr>
      <vt:lpstr>Refactoring</vt:lpstr>
      <vt:lpstr>Refactoring</vt:lpstr>
      <vt:lpstr>Refactoring</vt:lpstr>
      <vt:lpstr>Refactoring</vt:lpstr>
      <vt:lpstr>Refactoring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Lorenzo Dolzanelli</cp:lastModifiedBy>
  <cp:revision>16</cp:revision>
  <dcterms:created xsi:type="dcterms:W3CDTF">2012-12-03T06:56:55Z</dcterms:created>
  <dcterms:modified xsi:type="dcterms:W3CDTF">2025-10-18T09:43:11Z</dcterms:modified>
</cp:coreProperties>
</file>